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5"/>
  </p:notesMasterIdLst>
  <p:sldIdLst>
    <p:sldId id="504" r:id="rId2"/>
    <p:sldId id="408" r:id="rId3"/>
    <p:sldId id="505" r:id="rId4"/>
    <p:sldId id="477" r:id="rId5"/>
    <p:sldId id="478" r:id="rId6"/>
    <p:sldId id="484" r:id="rId7"/>
    <p:sldId id="479" r:id="rId8"/>
    <p:sldId id="487" r:id="rId9"/>
    <p:sldId id="489" r:id="rId10"/>
    <p:sldId id="485" r:id="rId11"/>
    <p:sldId id="503" r:id="rId12"/>
    <p:sldId id="490" r:id="rId13"/>
    <p:sldId id="486" r:id="rId14"/>
    <p:sldId id="502" r:id="rId15"/>
    <p:sldId id="498" r:id="rId16"/>
    <p:sldId id="497" r:id="rId17"/>
    <p:sldId id="480" r:id="rId18"/>
    <p:sldId id="491" r:id="rId19"/>
    <p:sldId id="493" r:id="rId20"/>
    <p:sldId id="495" r:id="rId21"/>
    <p:sldId id="492" r:id="rId22"/>
    <p:sldId id="496" r:id="rId23"/>
    <p:sldId id="301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9455" autoAdjust="0"/>
  </p:normalViewPr>
  <p:slideViewPr>
    <p:cSldViewPr snapToGrid="0">
      <p:cViewPr varScale="1">
        <p:scale>
          <a:sx n="59" d="100"/>
          <a:sy n="59" d="100"/>
        </p:scale>
        <p:origin x="161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CFF398-2E63-4D0C-81E6-D3D65B4E04D6}" type="datetimeFigureOut">
              <a:rPr lang="zh-TW" altLang="en-US" smtClean="0"/>
              <a:t>2025/5/2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0FF16-5C7B-4B78-99C2-9CCF891F8D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5050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Design and Implementation of UEFI Protocol Interfaces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0FF16-5C7B-4B78-99C2-9CCF891F8D1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8353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TW" altLang="en-US" dirty="0"/>
              <a:t>如何使用</a:t>
            </a:r>
            <a:r>
              <a:rPr lang="en-US" altLang="zh-TW" dirty="0"/>
              <a:t>UEFI Protocol</a:t>
            </a:r>
            <a:r>
              <a:rPr lang="zh-TW" altLang="en-US" dirty="0"/>
              <a:t> </a:t>
            </a:r>
            <a:endParaRPr lang="en-US" altLang="zh-TW" dirty="0"/>
          </a:p>
          <a:p>
            <a:pPr marL="228600" indent="-228600">
              <a:buAutoNum type="arabicPeriod"/>
            </a:pPr>
            <a:endParaRPr lang="en-US" altLang="zh-TW" dirty="0"/>
          </a:p>
          <a:p>
            <a:pPr marL="228600" indent="-228600">
              <a:buAutoNum type="arabicPeriod"/>
            </a:pPr>
            <a:r>
              <a:rPr lang="zh-TW" altLang="en-US" dirty="0"/>
              <a:t>創造</a:t>
            </a:r>
            <a:r>
              <a:rPr lang="en-US" altLang="zh-TW" dirty="0"/>
              <a:t>Protocol </a:t>
            </a:r>
            <a:r>
              <a:rPr lang="zh-TW" altLang="en-US" dirty="0"/>
              <a:t>並且使用</a:t>
            </a:r>
            <a:r>
              <a:rPr lang="en-US" altLang="zh-TW" dirty="0"/>
              <a:t>(Driver tutorial)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C87AF-F8BE-491B-9614-BF29EBA5B15B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9975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C2EA5-A504-514C-6CC8-A12A18DC5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E790F27-3641-0B64-FF52-6AAEC9931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92D1E46-4287-E618-8F11-FC5602E48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這是使用</a:t>
            </a:r>
            <a:r>
              <a:rPr lang="en-US" altLang="zh-TW" dirty="0"/>
              <a:t>IO read/wrote </a:t>
            </a:r>
            <a:r>
              <a:rPr lang="zh-TW" altLang="en-US" dirty="0"/>
              <a:t>對</a:t>
            </a:r>
            <a:r>
              <a:rPr lang="en-US" altLang="zh-TW" dirty="0"/>
              <a:t>PCI </a:t>
            </a:r>
            <a:r>
              <a:rPr lang="zh-TW" altLang="en-US" dirty="0"/>
              <a:t>取值的方法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對 </a:t>
            </a:r>
            <a:r>
              <a:rPr lang="en-US" altLang="zh-TW" dirty="0"/>
              <a:t>0xCF8 </a:t>
            </a:r>
            <a:r>
              <a:rPr lang="zh-TW" altLang="en-US" dirty="0"/>
              <a:t>給予 </a:t>
            </a:r>
            <a:r>
              <a:rPr lang="en-US" altLang="zh-TW" dirty="0"/>
              <a:t>PCI address </a:t>
            </a:r>
            <a:r>
              <a:rPr lang="zh-TW" altLang="en-US" dirty="0"/>
              <a:t>，在</a:t>
            </a:r>
            <a:r>
              <a:rPr lang="en-US" altLang="zh-TW" dirty="0"/>
              <a:t>0xcfc </a:t>
            </a:r>
            <a:r>
              <a:rPr lang="zh-TW" altLang="en-US" dirty="0"/>
              <a:t>可以取值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不過</a:t>
            </a:r>
            <a:r>
              <a:rPr lang="en-US" altLang="zh-TW" dirty="0"/>
              <a:t>UEFI </a:t>
            </a:r>
            <a:r>
              <a:rPr lang="zh-TW" altLang="en-US" dirty="0"/>
              <a:t>有 </a:t>
            </a:r>
            <a:r>
              <a:rPr lang="en-US" altLang="zh-TW" dirty="0"/>
              <a:t>protocol </a:t>
            </a:r>
            <a:r>
              <a:rPr lang="zh-TW" altLang="en-US" dirty="0"/>
              <a:t>已經有支援了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就可以使用這個 </a:t>
            </a:r>
            <a:r>
              <a:rPr lang="en-US" altLang="zh-TW" dirty="0"/>
              <a:t>protocol</a:t>
            </a:r>
            <a:r>
              <a:rPr lang="zh-TW" altLang="en-US" dirty="0"/>
              <a:t> </a:t>
            </a:r>
            <a:r>
              <a:rPr lang="en-US" altLang="zh-TW" dirty="0"/>
              <a:t>access PCI</a:t>
            </a:r>
            <a:r>
              <a:rPr lang="zh-TW" altLang="en-US" dirty="0"/>
              <a:t> 的資訊</a:t>
            </a:r>
            <a:r>
              <a:rPr lang="en-US" altLang="zh-TW" dirty="0"/>
              <a:t>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A99977F-A437-D9E8-03BF-8A9CE4226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C87AF-F8BE-491B-9614-BF29EBA5B15B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8409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3B78B-CFBC-E8F1-F13D-B7B3D412B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04E75A4-68B7-171D-BCF1-D268305401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8A9649-8298-30E2-01CC-43E9FEC72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這個是</a:t>
            </a:r>
            <a:r>
              <a:rPr lang="en-US" altLang="zh-TW" dirty="0"/>
              <a:t>UEFI </a:t>
            </a:r>
            <a:r>
              <a:rPr lang="zh-TW" altLang="en-US" dirty="0"/>
              <a:t>官網提供的有關於 </a:t>
            </a:r>
            <a:r>
              <a:rPr lang="en-US" altLang="zh-TW" dirty="0"/>
              <a:t>PCI doc.</a:t>
            </a:r>
          </a:p>
          <a:p>
            <a:endParaRPr lang="en-US" altLang="zh-TW" dirty="0"/>
          </a:p>
          <a:p>
            <a:r>
              <a:rPr lang="zh-TW" altLang="en-US" dirty="0"/>
              <a:t>有關於</a:t>
            </a:r>
            <a:r>
              <a:rPr lang="en-US" altLang="zh-TW" dirty="0"/>
              <a:t>PCI read /write </a:t>
            </a:r>
            <a:r>
              <a:rPr lang="zh-TW" altLang="en-US" dirty="0"/>
              <a:t>的</a:t>
            </a:r>
            <a:r>
              <a:rPr lang="en-US" altLang="zh-TW" dirty="0"/>
              <a:t>protocol function </a:t>
            </a:r>
          </a:p>
          <a:p>
            <a:endParaRPr lang="en-US" altLang="zh-TW" dirty="0"/>
          </a:p>
          <a:p>
            <a:r>
              <a:rPr lang="zh-TW" altLang="en-US" dirty="0"/>
              <a:t>假如你想使用這個</a:t>
            </a:r>
            <a:r>
              <a:rPr lang="en-US" altLang="zh-TW" dirty="0"/>
              <a:t>protocol</a:t>
            </a:r>
            <a:r>
              <a:rPr lang="zh-TW" altLang="en-US" dirty="0"/>
              <a:t> 該如何使用</a:t>
            </a:r>
            <a:r>
              <a:rPr lang="en-US" altLang="zh-TW" dirty="0"/>
              <a:t>?</a:t>
            </a:r>
          </a:p>
          <a:p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0F4B473-8E44-86EC-8CAB-E752A8E27D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C87AF-F8BE-491B-9614-BF29EBA5B15B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6599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41C9B-6968-AF1D-37C8-BC3DC2DFB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BD3BD36-C0FF-1D8A-020D-D2ECCC2650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77705FF-A729-C7C1-3F3B-CC0211F349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首先要先宣告兩個變數</a:t>
            </a:r>
            <a:endParaRPr lang="en-US" altLang="zh-TW" dirty="0"/>
          </a:p>
          <a:p>
            <a:endParaRPr lang="en-US" altLang="zh-TW" dirty="0"/>
          </a:p>
          <a:p>
            <a:pPr marL="228600" indent="-228600">
              <a:buAutoNum type="arabicPeriod"/>
            </a:pPr>
            <a:r>
              <a:rPr lang="en-US" altLang="zh-TW" dirty="0"/>
              <a:t>Status </a:t>
            </a:r>
            <a:r>
              <a:rPr lang="zh-TW" altLang="en-US" dirty="0"/>
              <a:t>這個變數，可以用來檢驗使用 </a:t>
            </a:r>
            <a:r>
              <a:rPr lang="en-US" altLang="zh-TW" dirty="0"/>
              <a:t>function </a:t>
            </a:r>
            <a:r>
              <a:rPr lang="zh-TW" altLang="en-US" dirty="0"/>
              <a:t>的狀況 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ex 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參數填值錯誤，會有</a:t>
            </a:r>
            <a:r>
              <a:rPr lang="en-US" altLang="zh-TW" dirty="0"/>
              <a:t>Error</a:t>
            </a:r>
            <a:r>
              <a:rPr lang="zh-TW" altLang="en-US" dirty="0"/>
              <a:t>的數值會被回傳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>
                <a:solidFill>
                  <a:srgbClr val="9C0000"/>
                </a:solidFill>
                <a:effectLst/>
              </a:rPr>
              <a:t>2.</a:t>
            </a:r>
            <a:r>
              <a:rPr lang="it-IT" altLang="zh-TW" dirty="0">
                <a:solidFill>
                  <a:srgbClr val="9C0000"/>
                </a:solidFill>
                <a:effectLst/>
              </a:rPr>
              <a:t> EFI_PCI_ROOT_BRIDGE_IO_PROTOCOL    *PciRootBridgeIo</a:t>
            </a:r>
            <a:r>
              <a:rPr lang="zh-TW" altLang="en-US" dirty="0">
                <a:solidFill>
                  <a:srgbClr val="9C0000"/>
                </a:solidFill>
                <a:effectLst/>
              </a:rPr>
              <a:t> ，這個宣告可以讓 </a:t>
            </a:r>
            <a:r>
              <a:rPr lang="en-US" altLang="zh-TW" dirty="0" err="1">
                <a:solidFill>
                  <a:srgbClr val="9C0000"/>
                </a:solidFill>
                <a:effectLst/>
              </a:rPr>
              <a:t>Locateprotocol</a:t>
            </a:r>
            <a:r>
              <a:rPr lang="en-US" altLang="zh-TW" dirty="0">
                <a:solidFill>
                  <a:srgbClr val="9C0000"/>
                </a:solidFill>
                <a:effectLst/>
              </a:rPr>
              <a:t> </a:t>
            </a:r>
            <a:r>
              <a:rPr lang="zh-TW" altLang="en-US" dirty="0">
                <a:solidFill>
                  <a:srgbClr val="9C0000"/>
                </a:solidFill>
                <a:effectLst/>
              </a:rPr>
              <a:t>取得</a:t>
            </a:r>
            <a:r>
              <a:rPr lang="en-US" altLang="zh-TW" dirty="0">
                <a:solidFill>
                  <a:srgbClr val="9C0000"/>
                </a:solidFill>
                <a:effectLst/>
              </a:rPr>
              <a:t>PCI read/Write </a:t>
            </a:r>
            <a:r>
              <a:rPr lang="zh-TW" altLang="en-US" dirty="0">
                <a:solidFill>
                  <a:srgbClr val="9C0000"/>
                </a:solidFill>
                <a:effectLst/>
              </a:rPr>
              <a:t>的 </a:t>
            </a:r>
            <a:r>
              <a:rPr lang="en-US" altLang="zh-TW" dirty="0">
                <a:solidFill>
                  <a:srgbClr val="9C0000"/>
                </a:solidFill>
                <a:effectLst/>
              </a:rPr>
              <a:t>interface </a:t>
            </a:r>
            <a:endParaRPr lang="it-IT" altLang="zh-TW" dirty="0">
              <a:solidFill>
                <a:srgbClr val="9C0000"/>
              </a:solidFill>
              <a:effectLst/>
            </a:endParaRPr>
          </a:p>
          <a:p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3D5EA6-1D44-A188-8553-431C66D0C7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C87AF-F8BE-491B-9614-BF29EBA5B15B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1690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81E3B-3E87-5C7C-148E-663977BA4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4A5DD80-BAF1-CA8E-7899-125E979577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CF6DDDC-3A3A-CED2-A310-BF7FF3FCA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gBS</a:t>
            </a:r>
            <a:r>
              <a:rPr lang="en-US" altLang="zh-TW" dirty="0"/>
              <a:t>-&gt;</a:t>
            </a:r>
            <a:r>
              <a:rPr lang="en-US" altLang="zh-TW" dirty="0" err="1"/>
              <a:t>LocateProtocol</a:t>
            </a:r>
            <a:r>
              <a:rPr lang="en-US" altLang="zh-TW" dirty="0"/>
              <a:t> </a:t>
            </a:r>
          </a:p>
          <a:p>
            <a:endParaRPr lang="en-US" altLang="zh-TW" dirty="0"/>
          </a:p>
          <a:p>
            <a:r>
              <a:rPr lang="zh-TW" altLang="en-US" dirty="0"/>
              <a:t>這個意思是，他利用</a:t>
            </a:r>
            <a:r>
              <a:rPr lang="en-US" altLang="zh-TW" dirty="0" err="1"/>
              <a:t>LocateProtocol</a:t>
            </a:r>
            <a:r>
              <a:rPr lang="en-US" altLang="zh-TW" dirty="0"/>
              <a:t> </a:t>
            </a:r>
            <a:r>
              <a:rPr lang="zh-TW" altLang="en-US" dirty="0"/>
              <a:t>在 </a:t>
            </a:r>
            <a:r>
              <a:rPr lang="en-US" altLang="zh-TW" dirty="0"/>
              <a:t>Protocol database </a:t>
            </a:r>
            <a:r>
              <a:rPr lang="zh-TW" altLang="en-US" dirty="0"/>
              <a:t>找尋已經這個</a:t>
            </a:r>
            <a:r>
              <a:rPr lang="en-US" altLang="zh-TW" dirty="0"/>
              <a:t>GUID</a:t>
            </a:r>
            <a:r>
              <a:rPr lang="zh-TW" altLang="en-US" dirty="0"/>
              <a:t>的</a:t>
            </a:r>
            <a:r>
              <a:rPr lang="en-US" altLang="zh-TW" dirty="0"/>
              <a:t>Protocol</a:t>
            </a:r>
            <a:r>
              <a:rPr lang="zh-TW" altLang="en-US" dirty="0"/>
              <a:t>，並把該 </a:t>
            </a:r>
            <a:r>
              <a:rPr lang="en-US" altLang="zh-TW" dirty="0"/>
              <a:t>Protocol </a:t>
            </a:r>
            <a:r>
              <a:rPr lang="zh-TW" altLang="en-US" dirty="0"/>
              <a:t>指標回傳回來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裡面的參數要放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IN EFI_GUID *Protocol, // </a:t>
            </a:r>
            <a:r>
              <a:rPr lang="zh-TW" altLang="en-US" dirty="0"/>
              <a:t>指向要搜尋的 </a:t>
            </a:r>
            <a:r>
              <a:rPr lang="en-US" altLang="zh-TW" dirty="0"/>
              <a:t>Protocol GUID (</a:t>
            </a:r>
            <a:r>
              <a:rPr lang="zh-TW" altLang="en-US" dirty="0"/>
              <a:t>唯一性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IN VOID </a:t>
            </a:r>
            <a:r>
              <a:rPr lang="zh-TW" altLang="en-US" dirty="0"/>
              <a:t>       </a:t>
            </a:r>
            <a:r>
              <a:rPr lang="en-US" altLang="zh-TW" dirty="0"/>
              <a:t>*Registration, // </a:t>
            </a:r>
            <a:r>
              <a:rPr lang="zh-TW" altLang="en-US" dirty="0"/>
              <a:t>保留用參數，通常設為 </a:t>
            </a:r>
            <a:r>
              <a:rPr lang="en-US" altLang="zh-TW" dirty="0"/>
              <a:t>NULL </a:t>
            </a:r>
          </a:p>
          <a:p>
            <a:r>
              <a:rPr lang="en-US" altLang="zh-TW" dirty="0"/>
              <a:t>OUT VOID </a:t>
            </a:r>
            <a:r>
              <a:rPr lang="zh-TW" altLang="en-US" dirty="0"/>
              <a:t>   </a:t>
            </a:r>
            <a:r>
              <a:rPr lang="en-US" altLang="zh-TW" dirty="0"/>
              <a:t>**Interface // </a:t>
            </a:r>
            <a:r>
              <a:rPr lang="zh-TW" altLang="en-US" dirty="0"/>
              <a:t>搜尋成功時返回該 </a:t>
            </a:r>
            <a:r>
              <a:rPr lang="en-US" altLang="zh-TW" dirty="0"/>
              <a:t>Protocol </a:t>
            </a:r>
            <a:r>
              <a:rPr lang="zh-TW" altLang="en-US" dirty="0"/>
              <a:t>的指標 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假如 </a:t>
            </a:r>
            <a:r>
              <a:rPr lang="en-US" altLang="zh-TW" dirty="0" err="1"/>
              <a:t>LocateProtocol</a:t>
            </a:r>
            <a:r>
              <a:rPr lang="en-US" altLang="zh-TW" dirty="0"/>
              <a:t> </a:t>
            </a:r>
            <a:r>
              <a:rPr lang="zh-TW" altLang="en-US" dirty="0"/>
              <a:t>有順利找到數值， </a:t>
            </a:r>
            <a:r>
              <a:rPr lang="en-US" altLang="zh-TW" dirty="0"/>
              <a:t>Status </a:t>
            </a:r>
            <a:r>
              <a:rPr lang="zh-TW" altLang="en-US" dirty="0"/>
              <a:t>成功找到的數值</a:t>
            </a:r>
            <a:endParaRPr lang="en-US" altLang="zh-TW" dirty="0"/>
          </a:p>
          <a:p>
            <a:r>
              <a:rPr lang="zh-TW" altLang="en-US" dirty="0"/>
              <a:t>如果沒有找到該</a:t>
            </a:r>
            <a:r>
              <a:rPr lang="en-US" altLang="zh-TW" dirty="0"/>
              <a:t>protocol </a:t>
            </a:r>
            <a:r>
              <a:rPr lang="zh-TW" altLang="en-US" dirty="0"/>
              <a:t>也會回傳失敗的數值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不過 </a:t>
            </a:r>
            <a:r>
              <a:rPr lang="en-US" altLang="zh-TW" dirty="0" err="1"/>
              <a:t>LocateProtocol</a:t>
            </a:r>
            <a:r>
              <a:rPr lang="en-US" altLang="zh-TW" dirty="0"/>
              <a:t> </a:t>
            </a:r>
            <a:r>
              <a:rPr lang="zh-TW" altLang="en-US" dirty="0"/>
              <a:t>只找到第一個支援指定</a:t>
            </a:r>
            <a:r>
              <a:rPr lang="en-US" altLang="zh-TW" dirty="0"/>
              <a:t>Protocol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6480A73-AD71-9E64-C717-61E4C129DD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C87AF-F8BE-491B-9614-BF29EBA5B15B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1656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56696-7E9D-701B-1E5F-BEAB25B47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35212AD-4FA1-50F2-26DD-30AAEF06B4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367844E-0C46-BDF8-FA9B-54BF333407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如果真的有找到這個</a:t>
            </a:r>
            <a:r>
              <a:rPr lang="en-US" altLang="zh-TW" dirty="0"/>
              <a:t>protocol </a:t>
            </a:r>
            <a:r>
              <a:rPr lang="zh-TW" altLang="en-US" dirty="0"/>
              <a:t>就可以直接使用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err="1"/>
              <a:t>pci.read</a:t>
            </a:r>
            <a:r>
              <a:rPr lang="en-US" altLang="zh-TW" dirty="0"/>
              <a:t> </a:t>
            </a:r>
            <a:r>
              <a:rPr lang="zh-TW" altLang="en-US" dirty="0"/>
              <a:t>裡面的參數就如</a:t>
            </a:r>
            <a:r>
              <a:rPr lang="en-US" altLang="zh-TW" dirty="0"/>
              <a:t>spec</a:t>
            </a:r>
            <a:r>
              <a:rPr lang="zh-TW" altLang="en-US" dirty="0"/>
              <a:t>所寫的</a:t>
            </a:r>
            <a:r>
              <a:rPr lang="en-US" altLang="zh-TW" dirty="0"/>
              <a:t>Prototype</a:t>
            </a:r>
          </a:p>
          <a:p>
            <a:endParaRPr lang="en-US" altLang="zh-TW" dirty="0"/>
          </a:p>
          <a:p>
            <a:r>
              <a:rPr lang="zh-TW" altLang="en-US" dirty="0"/>
              <a:t>*</a:t>
            </a:r>
            <a:r>
              <a:rPr lang="en-US" altLang="zh-TW" dirty="0"/>
              <a:t>This</a:t>
            </a:r>
            <a:r>
              <a:rPr lang="zh-TW" altLang="en-US" dirty="0"/>
              <a:t>       </a:t>
            </a:r>
            <a:r>
              <a:rPr lang="en-US" altLang="zh-TW" dirty="0"/>
              <a:t>:</a:t>
            </a:r>
            <a:r>
              <a:rPr lang="zh-TW" altLang="en-US" dirty="0"/>
              <a:t> 使用</a:t>
            </a:r>
            <a:r>
              <a:rPr lang="en-US" altLang="zh-TW" dirty="0" err="1"/>
              <a:t>Locateprotocol</a:t>
            </a:r>
            <a:r>
              <a:rPr lang="en-US" altLang="zh-TW" dirty="0"/>
              <a:t> </a:t>
            </a:r>
            <a:r>
              <a:rPr lang="zh-TW" altLang="en-US" dirty="0"/>
              <a:t>取得的</a:t>
            </a:r>
            <a:r>
              <a:rPr lang="en-US" altLang="zh-TW" dirty="0"/>
              <a:t> point </a:t>
            </a:r>
          </a:p>
          <a:p>
            <a:r>
              <a:rPr lang="en-US" altLang="zh-TW" dirty="0"/>
              <a:t>Width     : </a:t>
            </a:r>
            <a:r>
              <a:rPr lang="zh-TW" altLang="en-US" dirty="0"/>
              <a:t>取多少個 </a:t>
            </a:r>
            <a:r>
              <a:rPr lang="en-US" altLang="zh-TW" dirty="0"/>
              <a:t>Bytes </a:t>
            </a:r>
          </a:p>
          <a:p>
            <a:r>
              <a:rPr lang="en-US" altLang="zh-TW" dirty="0"/>
              <a:t>Address : PCI address </a:t>
            </a:r>
          </a:p>
          <a:p>
            <a:r>
              <a:rPr lang="en-US" altLang="zh-TW" dirty="0"/>
              <a:t>Count     : </a:t>
            </a:r>
            <a:r>
              <a:rPr lang="zh-TW" altLang="en-US" dirty="0"/>
              <a:t>從</a:t>
            </a:r>
            <a:r>
              <a:rPr lang="en-US" altLang="zh-TW" dirty="0"/>
              <a:t>address</a:t>
            </a:r>
            <a:r>
              <a:rPr lang="zh-TW" altLang="en-US" dirty="0"/>
              <a:t>開始</a:t>
            </a:r>
            <a:r>
              <a:rPr lang="en-US" altLang="zh-TW" dirty="0"/>
              <a:t>, </a:t>
            </a:r>
            <a:r>
              <a:rPr lang="zh-TW" altLang="en-US" dirty="0"/>
              <a:t>以 </a:t>
            </a:r>
            <a:r>
              <a:rPr lang="en-US" altLang="zh-TW" dirty="0"/>
              <a:t>Width </a:t>
            </a:r>
            <a:r>
              <a:rPr lang="zh-TW" altLang="en-US" dirty="0"/>
              <a:t>進行幾次讀寫</a:t>
            </a:r>
            <a:endParaRPr lang="en-US" altLang="zh-TW" dirty="0"/>
          </a:p>
          <a:p>
            <a:r>
              <a:rPr lang="en-US" altLang="zh-TW" dirty="0"/>
              <a:t>Buffer     : Value (</a:t>
            </a:r>
            <a:r>
              <a:rPr lang="zh-TW" altLang="en-US" dirty="0"/>
              <a:t>取值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zh-TW" altLang="en-US" dirty="0"/>
              <a:t>使用</a:t>
            </a:r>
            <a:r>
              <a:rPr lang="en-US" altLang="zh-TW" dirty="0"/>
              <a:t>PCI read function </a:t>
            </a:r>
            <a:r>
              <a:rPr lang="zh-TW" altLang="en-US" dirty="0"/>
              <a:t>時，也有 </a:t>
            </a:r>
            <a:r>
              <a:rPr lang="en-US" altLang="zh-TW" dirty="0"/>
              <a:t>status </a:t>
            </a:r>
            <a:r>
              <a:rPr lang="zh-TW" altLang="en-US" dirty="0"/>
              <a:t>可以使用</a:t>
            </a:r>
            <a:endParaRPr lang="en-US" altLang="zh-TW" dirty="0"/>
          </a:p>
          <a:p>
            <a:r>
              <a:rPr lang="zh-TW" altLang="en-US" dirty="0"/>
              <a:t>如果讀寫失敗也是可以進行查看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其實這樣解說還不懂的話，可以自己實作一個</a:t>
            </a:r>
            <a:r>
              <a:rPr lang="en-US" altLang="zh-TW" dirty="0"/>
              <a:t>driver </a:t>
            </a:r>
            <a:r>
              <a:rPr lang="zh-TW" altLang="en-US" dirty="0"/>
              <a:t>就可以了解 為什麼</a:t>
            </a:r>
            <a:r>
              <a:rPr lang="en-US" altLang="zh-TW" dirty="0"/>
              <a:t>spec</a:t>
            </a:r>
            <a:r>
              <a:rPr lang="zh-TW" altLang="en-US" dirty="0"/>
              <a:t>要這樣寫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9AB4EF0-1170-9670-4B02-5E228981AE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C87AF-F8BE-491B-9614-BF29EBA5B15B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80822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88BFD-1CA4-FFD0-803B-B4B025C9C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1847AD4-5D10-3509-90AA-65045BCF1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AC0E353-C12C-A2AD-DE6F-BCBA0842C1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TestProtocol.h</a:t>
            </a:r>
            <a:r>
              <a:rPr lang="en-US" altLang="zh-TW" dirty="0"/>
              <a:t> </a:t>
            </a:r>
          </a:p>
          <a:p>
            <a:endParaRPr lang="en-US" altLang="zh-TW" dirty="0"/>
          </a:p>
          <a:p>
            <a:r>
              <a:rPr lang="zh-TW" altLang="en-US" dirty="0"/>
              <a:t>這個</a:t>
            </a:r>
            <a:r>
              <a:rPr lang="en-US" altLang="zh-TW" dirty="0"/>
              <a:t>Protocol </a:t>
            </a:r>
            <a:r>
              <a:rPr lang="zh-TW" altLang="en-US" dirty="0"/>
              <a:t>也是可以填入</a:t>
            </a:r>
            <a:r>
              <a:rPr lang="en-US" altLang="zh-TW" dirty="0"/>
              <a:t>4</a:t>
            </a:r>
            <a:r>
              <a:rPr lang="zh-TW" altLang="en-US" dirty="0"/>
              <a:t>個參數</a:t>
            </a:r>
            <a:r>
              <a:rPr lang="en-US" altLang="zh-TW" dirty="0"/>
              <a:t> </a:t>
            </a:r>
            <a:r>
              <a:rPr lang="en-US" altLang="zh-TW" dirty="0" err="1"/>
              <a:t>EFI_HELLO_WORLD_Protocol</a:t>
            </a:r>
            <a:r>
              <a:rPr lang="en-US" altLang="zh-TW" dirty="0"/>
              <a:t> , A  , B , Result</a:t>
            </a:r>
          </a:p>
          <a:p>
            <a:endParaRPr lang="en-US" altLang="zh-TW" dirty="0"/>
          </a:p>
          <a:p>
            <a:r>
              <a:rPr lang="zh-TW" altLang="en-US" dirty="0"/>
              <a:t>這邊寫成類似</a:t>
            </a:r>
            <a:r>
              <a:rPr lang="en-US" altLang="zh-TW" dirty="0"/>
              <a:t>UEFI doc</a:t>
            </a:r>
            <a:r>
              <a:rPr lang="zh-TW" altLang="en-US" dirty="0"/>
              <a:t> 一樣，有</a:t>
            </a:r>
            <a:r>
              <a:rPr lang="en-US" altLang="zh-TW" dirty="0"/>
              <a:t>Read</a:t>
            </a:r>
            <a:r>
              <a:rPr lang="zh-TW" altLang="en-US" dirty="0"/>
              <a:t>的功能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3A74FC-9547-461B-C2D2-B74BC4E078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C87AF-F8BE-491B-9614-BF29EBA5B15B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21182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E8BCE-D2C6-6A2D-CA49-E0D677F48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BBDED07-DCCF-A928-3BF5-3CD8FCCB7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357EDB4-A16F-8092-5EEE-2DA68AC312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這個資料夾要放在 </a:t>
            </a:r>
            <a:r>
              <a:rPr lang="en-US" altLang="zh-TW" dirty="0">
                <a:solidFill>
                  <a:schemeClr val="tx1"/>
                </a:solidFill>
              </a:rPr>
              <a:t>\</a:t>
            </a:r>
            <a:r>
              <a:rPr lang="en-US" altLang="zh-TW" dirty="0" err="1">
                <a:solidFill>
                  <a:schemeClr val="tx1"/>
                </a:solidFill>
              </a:rPr>
              <a:t>MdeModulePkg</a:t>
            </a:r>
            <a:r>
              <a:rPr lang="en-US" altLang="zh-TW" dirty="0">
                <a:solidFill>
                  <a:schemeClr val="tx1"/>
                </a:solidFill>
              </a:rPr>
              <a:t>\Include\Protocol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112A3E3-FB6E-5B42-8D18-75435BD6EE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C87AF-F8BE-491B-9614-BF29EBA5B15B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3241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2BD78-FCF9-1132-1575-BC9C2C8C5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6A3128A-A010-7237-77C3-E32F8619C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6C5C302-1CE5-5CB2-7BEF-BDD95AA6A4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有 </a:t>
            </a:r>
            <a:r>
              <a:rPr lang="en-US" altLang="zh-TW" dirty="0"/>
              <a:t>.h</a:t>
            </a:r>
            <a:r>
              <a:rPr lang="zh-TW" altLang="en-US" dirty="0"/>
              <a:t> 檔 ，一定要在</a:t>
            </a:r>
            <a:r>
              <a:rPr lang="en-US" altLang="zh-TW" dirty="0"/>
              <a:t>dec</a:t>
            </a:r>
            <a:r>
              <a:rPr lang="zh-TW" altLang="en-US" dirty="0"/>
              <a:t>裡面的 </a:t>
            </a:r>
            <a:r>
              <a:rPr lang="en-US" altLang="zh-TW" dirty="0"/>
              <a:t>[</a:t>
            </a:r>
            <a:r>
              <a:rPr lang="zh-TW" altLang="en-US" dirty="0"/>
              <a:t> </a:t>
            </a:r>
            <a:r>
              <a:rPr lang="en-US" altLang="zh-TW" dirty="0"/>
              <a:t>Protocol</a:t>
            </a:r>
            <a:r>
              <a:rPr lang="zh-TW" altLang="en-US" dirty="0"/>
              <a:t> </a:t>
            </a:r>
            <a:r>
              <a:rPr lang="en-US" altLang="zh-TW" dirty="0"/>
              <a:t>]</a:t>
            </a:r>
            <a:r>
              <a:rPr lang="zh-TW" altLang="en-US" dirty="0"/>
              <a:t>底下填寫</a:t>
            </a:r>
            <a:r>
              <a:rPr lang="en-US" altLang="zh-TW" dirty="0"/>
              <a:t>GUID</a:t>
            </a:r>
            <a:r>
              <a:rPr lang="zh-TW" altLang="en-US" dirty="0"/>
              <a:t>  </a:t>
            </a:r>
            <a:r>
              <a:rPr lang="en-US" altLang="zh-TW" dirty="0"/>
              <a:t>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5C7F76-5BF6-33AF-D864-7725D3FFE2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C87AF-F8BE-491B-9614-BF29EBA5B15B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32810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8B93E-D538-B6BB-D895-FD84924B9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1F32AA-3391-280E-F3F6-6822E65C6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360886C-8857-BE2D-3AE9-5D117F1B8D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TestProtocolInstall</a:t>
            </a:r>
            <a:r>
              <a:rPr lang="en-US" altLang="zh-TW" dirty="0"/>
              <a:t>.c</a:t>
            </a:r>
          </a:p>
          <a:p>
            <a:endParaRPr lang="en-US" altLang="zh-TW" dirty="0"/>
          </a:p>
          <a:p>
            <a:r>
              <a:rPr lang="zh-TW" altLang="en-US" dirty="0"/>
              <a:t>就可以開始定義</a:t>
            </a:r>
            <a:r>
              <a:rPr lang="en-US" altLang="zh-TW" dirty="0"/>
              <a:t>function</a:t>
            </a:r>
            <a:r>
              <a:rPr lang="zh-TW" altLang="en-US" dirty="0"/>
              <a:t> 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這邊定義呼叫該</a:t>
            </a:r>
            <a:r>
              <a:rPr lang="en-US" altLang="zh-TW" dirty="0"/>
              <a:t>function </a:t>
            </a:r>
            <a:r>
              <a:rPr lang="zh-TW" altLang="en-US" dirty="0"/>
              <a:t>回傳 </a:t>
            </a:r>
            <a:r>
              <a:rPr lang="en-US" altLang="zh-TW" dirty="0"/>
              <a:t>(a + b) * 2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D06723-872A-E230-B77A-D582D97EFF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C87AF-F8BE-491B-9614-BF29EBA5B15B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71647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1CEE1-3DC7-F14E-03BC-7BE08CD38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7540859-459D-97F5-7DF7-8A8C3EA3E7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A1C6728-FD31-7D42-F662-275DF31B2D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TestProtocolInstall</a:t>
            </a:r>
            <a:r>
              <a:rPr lang="en-US" altLang="zh-TW" dirty="0"/>
              <a:t>.c</a:t>
            </a:r>
          </a:p>
          <a:p>
            <a:endParaRPr lang="en-US" altLang="zh-TW" dirty="0"/>
          </a:p>
          <a:p>
            <a:r>
              <a:rPr lang="zh-TW" altLang="en-US" dirty="0"/>
              <a:t>就可以開始定義</a:t>
            </a:r>
            <a:r>
              <a:rPr lang="en-US" altLang="zh-TW" dirty="0"/>
              <a:t>function</a:t>
            </a:r>
            <a:r>
              <a:rPr lang="zh-TW" altLang="en-US" dirty="0"/>
              <a:t> 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這邊定義呼叫該</a:t>
            </a:r>
            <a:r>
              <a:rPr lang="en-US" altLang="zh-TW" dirty="0"/>
              <a:t>function </a:t>
            </a:r>
            <a:r>
              <a:rPr lang="zh-TW" altLang="en-US" dirty="0"/>
              <a:t>回傳 </a:t>
            </a:r>
            <a:r>
              <a:rPr lang="en-US" altLang="zh-TW" dirty="0"/>
              <a:t>(a + b) * 2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B775D4-5A43-ACCC-8B5E-DBADFAA00B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C87AF-F8BE-491B-9614-BF29EBA5B15B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11713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31EAE-55FA-2108-21AF-FF07B9D3E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677AF23-C1F8-189D-CAED-A34990847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C30B09C-BF69-EF0D-1907-F6662EA2FF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AllocatePool</a:t>
            </a:r>
            <a:r>
              <a:rPr lang="en-US" altLang="zh-TW" dirty="0"/>
              <a:t> </a:t>
            </a:r>
            <a:r>
              <a:rPr lang="zh-TW" altLang="en-US" dirty="0"/>
              <a:t>意思是，記憶體將會分配一塊以</a:t>
            </a:r>
            <a:r>
              <a:rPr lang="en-US" altLang="zh-TW" dirty="0"/>
              <a:t>EFI_HELLO_WORLD_PROTOCOL</a:t>
            </a:r>
            <a:r>
              <a:rPr lang="zh-TW" altLang="en-US" dirty="0"/>
              <a:t>的空間，並存放</a:t>
            </a:r>
            <a:r>
              <a:rPr lang="en-US" altLang="zh-TW" dirty="0"/>
              <a:t>EFI_HELLO_WORLD_PROTOCOL</a:t>
            </a:r>
            <a:r>
              <a:rPr lang="zh-TW" altLang="en-US" dirty="0"/>
              <a:t> 的結構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A358C27-9CED-2CA2-8DA5-7328F32C1C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C87AF-F8BE-491B-9614-BF29EBA5B15B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42634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6BD6A-387A-D4E8-EAD3-5F4398B03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2A28B63-6D68-DBA5-1305-7C485A5F1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2B52CEB-2B21-4421-6004-2ECE16766D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HelloWorld.Read</a:t>
            </a:r>
            <a:r>
              <a:rPr lang="en-US" altLang="zh-TW" dirty="0"/>
              <a:t> </a:t>
            </a:r>
            <a:r>
              <a:rPr lang="zh-TW" altLang="en-US" dirty="0"/>
              <a:t>的接口，是自己自定義的</a:t>
            </a:r>
            <a:r>
              <a:rPr lang="en-US" altLang="zh-TW" dirty="0"/>
              <a:t>function</a:t>
            </a:r>
          </a:p>
          <a:p>
            <a:endParaRPr lang="en-US" altLang="zh-TW" dirty="0"/>
          </a:p>
          <a:p>
            <a:r>
              <a:rPr lang="zh-TW" altLang="en-US" dirty="0"/>
              <a:t>這樣之後宣告的變數都可以使用這個接口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7B3F968-4906-0FF9-4ED6-24FABB856C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C87AF-F8BE-491B-9614-BF29EBA5B15B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5907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9510F-25C0-A046-5DE5-7A6FAAF83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41301A8-A06B-41B0-8BD8-848B05A1AE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AB735A5-57ED-7BF1-EB8A-7C7265528D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TestProtocol.inf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0D5383-C124-2C96-CEFD-C51304905E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C87AF-F8BE-491B-9614-BF29EBA5B15B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42498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4CE59-080C-C8A2-5CBA-9DA86A5ED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0E3E4D2-B83E-6E8A-1CA5-2DA100117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35347A5-08E4-63B2-9547-89CD74E08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TestProtocolUse.c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58BBAA-8336-F505-8FD3-5C4022BAA5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C87AF-F8BE-491B-9614-BF29EBA5B15B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98496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C540A-0562-1007-4458-43C7485FD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7A24E5A-D806-7265-9B55-CCA268DDC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C31D724-E9C5-CBB1-88A4-D3BECF6956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一開始利用 </a:t>
            </a:r>
            <a:r>
              <a:rPr lang="en-US" altLang="zh-TW" dirty="0" err="1"/>
              <a:t>LocatedProtocol</a:t>
            </a:r>
            <a:r>
              <a:rPr lang="en-US" altLang="zh-TW" dirty="0"/>
              <a:t>  </a:t>
            </a:r>
            <a:r>
              <a:rPr lang="zh-TW" altLang="en-US" dirty="0"/>
              <a:t>去</a:t>
            </a:r>
            <a:r>
              <a:rPr lang="en-US" altLang="zh-TW" dirty="0"/>
              <a:t>GET   </a:t>
            </a:r>
            <a:r>
              <a:rPr lang="en-US" altLang="zh-TW" dirty="0" err="1"/>
              <a:t>TestProtocol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之後使用</a:t>
            </a:r>
            <a:r>
              <a:rPr lang="en-US" altLang="zh-TW" dirty="0"/>
              <a:t>Hello </a:t>
            </a:r>
            <a:r>
              <a:rPr lang="en-US" altLang="zh-TW" dirty="0" err="1"/>
              <a:t>World.read</a:t>
            </a:r>
            <a:r>
              <a:rPr lang="en-US" altLang="zh-TW" dirty="0"/>
              <a:t> </a:t>
            </a:r>
            <a:r>
              <a:rPr lang="zh-TW" altLang="en-US" dirty="0"/>
              <a:t>進行呼叫該</a:t>
            </a:r>
            <a:r>
              <a:rPr lang="en-US" altLang="zh-TW" dirty="0"/>
              <a:t> protocol</a:t>
            </a:r>
            <a:r>
              <a:rPr lang="zh-TW" altLang="en-US" dirty="0"/>
              <a:t> 的</a:t>
            </a:r>
            <a:r>
              <a:rPr lang="en-US" altLang="zh-TW" dirty="0"/>
              <a:t>function</a:t>
            </a:r>
          </a:p>
          <a:p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如果有</a:t>
            </a:r>
            <a:r>
              <a:rPr lang="en-US" altLang="zh-TW" dirty="0"/>
              <a:t>Get</a:t>
            </a:r>
            <a:r>
              <a:rPr lang="zh-TW" altLang="en-US" dirty="0"/>
              <a:t>到，就使用</a:t>
            </a:r>
            <a:r>
              <a:rPr lang="en-US" altLang="zh-TW" dirty="0"/>
              <a:t>Protocol-&gt;</a:t>
            </a:r>
            <a:r>
              <a:rPr lang="en-US" altLang="zh-TW" dirty="0" err="1"/>
              <a:t>helloWorld.Read</a:t>
            </a:r>
            <a:r>
              <a:rPr lang="en-US" altLang="zh-TW" dirty="0"/>
              <a:t> ( Protocol , a , b , &amp;result )</a:t>
            </a:r>
          </a:p>
          <a:p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3D379BB-A1AB-0732-FE27-A9C523AE8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C87AF-F8BE-491B-9614-BF29EBA5B15B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79178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體 Light"/>
                <a:cs typeface="+mn-cs"/>
              </a:rPr>
              <a:t>TestProtocolUse.inf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C87AF-F8BE-491B-9614-BF29EBA5B15B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47109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F66DA-4073-16B7-4D0A-2B7E6174C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7973BE9-1F30-4060-7272-3F38B50A21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FAFA8BC-781B-5932-ADE3-86869EA6EB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>
                <a:solidFill>
                  <a:schemeClr val="tx1"/>
                </a:solidFill>
              </a:rPr>
              <a:t>MdeModulePkg.dec</a:t>
            </a:r>
            <a:r>
              <a:rPr lang="en-US" altLang="zh-TW" dirty="0">
                <a:solidFill>
                  <a:schemeClr val="tx1"/>
                </a:solidFill>
              </a:rPr>
              <a:t>: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有 </a:t>
            </a:r>
            <a:r>
              <a:rPr lang="en-US" altLang="zh-TW" dirty="0"/>
              <a:t>.h</a:t>
            </a:r>
            <a:r>
              <a:rPr lang="zh-TW" altLang="en-US" dirty="0"/>
              <a:t> 檔 ，一定要在</a:t>
            </a:r>
            <a:r>
              <a:rPr lang="en-US" altLang="zh-TW" dirty="0"/>
              <a:t>dec</a:t>
            </a:r>
            <a:r>
              <a:rPr lang="zh-TW" altLang="en-US" dirty="0"/>
              <a:t>裡面的 </a:t>
            </a:r>
            <a:r>
              <a:rPr lang="en-US" altLang="zh-TW" dirty="0"/>
              <a:t>[</a:t>
            </a:r>
            <a:r>
              <a:rPr lang="zh-TW" altLang="en-US" dirty="0"/>
              <a:t> </a:t>
            </a:r>
            <a:r>
              <a:rPr lang="en-US" altLang="zh-TW" dirty="0"/>
              <a:t>Protocol</a:t>
            </a:r>
            <a:r>
              <a:rPr lang="zh-TW" altLang="en-US" dirty="0"/>
              <a:t> </a:t>
            </a:r>
            <a:r>
              <a:rPr lang="en-US" altLang="zh-TW" dirty="0"/>
              <a:t>]</a:t>
            </a:r>
            <a:r>
              <a:rPr lang="zh-TW" altLang="en-US" dirty="0"/>
              <a:t>底下填寫</a:t>
            </a:r>
            <a:r>
              <a:rPr lang="en-US" altLang="zh-TW" dirty="0"/>
              <a:t>GUID</a:t>
            </a:r>
            <a:r>
              <a:rPr lang="zh-TW" altLang="en-US" dirty="0"/>
              <a:t>  </a:t>
            </a:r>
            <a:r>
              <a:rPr lang="en-US" altLang="zh-TW" dirty="0"/>
              <a:t> </a:t>
            </a:r>
          </a:p>
          <a:p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>
                <a:solidFill>
                  <a:schemeClr val="tx1"/>
                </a:solidFill>
              </a:rPr>
              <a:t>MdeModulePkg.dsc</a:t>
            </a:r>
            <a:r>
              <a:rPr lang="en-US" altLang="zh-TW" dirty="0">
                <a:solidFill>
                  <a:schemeClr val="tx1"/>
                </a:solidFill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r>
              <a:rPr lang="zh-TW" altLang="en-US" dirty="0"/>
              <a:t>有撰寫</a:t>
            </a:r>
            <a:r>
              <a:rPr lang="en-US" altLang="zh-TW" dirty="0"/>
              <a:t>.c</a:t>
            </a:r>
            <a:r>
              <a:rPr lang="zh-TW" altLang="en-US" dirty="0"/>
              <a:t>檔 要在</a:t>
            </a:r>
            <a:r>
              <a:rPr lang="en-US" altLang="zh-TW" dirty="0" err="1"/>
              <a:t>dsc</a:t>
            </a:r>
            <a:r>
              <a:rPr lang="zh-TW" altLang="en-US" dirty="0"/>
              <a:t>檔寫下</a:t>
            </a:r>
            <a:r>
              <a:rPr lang="en-US" altLang="zh-TW" dirty="0"/>
              <a:t>.inf</a:t>
            </a:r>
            <a:r>
              <a:rPr lang="zh-TW" altLang="en-US" dirty="0"/>
              <a:t>檔</a:t>
            </a:r>
            <a:endParaRPr lang="en-US" altLang="zh-TW" dirty="0"/>
          </a:p>
          <a:p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TestProtocolInstall.c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TestProtocolUse.c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D64483E-08CA-9DFD-5552-60994E1EC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C87AF-F8BE-491B-9614-BF29EBA5B15B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07778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指令要下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load </a:t>
            </a:r>
            <a:r>
              <a:rPr lang="en-US" altLang="zh-TW" dirty="0" err="1"/>
              <a:t>TestProtocolInstall.efi</a:t>
            </a:r>
            <a:endParaRPr lang="zh-TW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load </a:t>
            </a:r>
            <a:r>
              <a:rPr lang="en-US" altLang="zh-TW" dirty="0" err="1"/>
              <a:t>TestProtocolUse.efi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就可以看到結果了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C87AF-F8BE-491B-9614-BF29EBA5B15B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4022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902B-42B7-4F80-B4F8-932F99562BB0}" type="datetimeFigureOut">
              <a:rPr lang="zh-TW" altLang="en-US" smtClean="0"/>
              <a:t>2025/5/2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0959-0872-4988-9D34-8181DC48E8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0760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230737"/>
            <a:ext cx="10353762" cy="9704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902B-42B7-4F80-B4F8-932F99562BB0}" type="datetimeFigureOut">
              <a:rPr lang="zh-TW" altLang="en-US" smtClean="0"/>
              <a:t>2025/5/2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0959-0872-4988-9D34-8181DC48E8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4785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>
            <a:normAutofit/>
          </a:bodyPr>
          <a:lstStyle>
            <a:lvl1pPr algn="ctr">
              <a:defRPr sz="5400" b="0" cap="none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902B-42B7-4F80-B4F8-932F99562BB0}" type="datetimeFigureOut">
              <a:rPr lang="zh-TW" altLang="en-US" smtClean="0"/>
              <a:t>2025/5/2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0959-0872-4988-9D34-8181DC48E893}" type="slidenum">
              <a:rPr lang="zh-TW" altLang="en-US" smtClean="0"/>
              <a:t>‹#›</a:t>
            </a:fld>
            <a:endParaRPr lang="zh-TW" altLang="en-US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0D8B50B-5C77-4A1B-8F23-DF98AF59813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49009129"/>
              </p:ext>
            </p:extLst>
          </p:nvPr>
        </p:nvGraphicFramePr>
        <p:xfrm>
          <a:off x="1295401" y="4002523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4117">
                  <a:extLst>
                    <a:ext uri="{9D8B030D-6E8A-4147-A177-3AD203B41FA5}">
                      <a16:colId xmlns:a16="http://schemas.microsoft.com/office/drawing/2014/main" val="3677761836"/>
                    </a:ext>
                  </a:extLst>
                </a:gridCol>
                <a:gridCol w="7283883">
                  <a:extLst>
                    <a:ext uri="{9D8B030D-6E8A-4147-A177-3AD203B41FA5}">
                      <a16:colId xmlns:a16="http://schemas.microsoft.com/office/drawing/2014/main" val="16770665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Name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en-US" altLang="zh-TW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JaxLu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796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Date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20250502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492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Ver     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0.0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2363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9382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902B-42B7-4F80-B4F8-932F99562BB0}" type="datetimeFigureOut">
              <a:rPr lang="zh-TW" altLang="en-US" smtClean="0"/>
              <a:t>2025/5/2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0959-0872-4988-9D34-8181DC48E8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3327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902B-42B7-4F80-B4F8-932F99562BB0}" type="datetimeFigureOut">
              <a:rPr lang="zh-TW" altLang="en-US" smtClean="0"/>
              <a:t>2025/5/2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0959-0872-4988-9D34-8181DC48E8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658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9119" y="2943775"/>
            <a:ext cx="10353762" cy="9704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902B-42B7-4F80-B4F8-932F99562BB0}" type="datetimeFigureOut">
              <a:rPr lang="zh-TW" altLang="en-US" smtClean="0"/>
              <a:t>2025/5/2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0959-0872-4988-9D34-8181DC48E8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1415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902B-42B7-4F80-B4F8-932F99562BB0}" type="datetimeFigureOut">
              <a:rPr lang="zh-TW" altLang="en-US" smtClean="0"/>
              <a:t>2025/5/2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0959-0872-4988-9D34-8181DC48E8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6404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902B-42B7-4F80-B4F8-932F99562BB0}" type="datetimeFigureOut">
              <a:rPr lang="zh-TW" altLang="en-US" smtClean="0"/>
              <a:t>2025/5/2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0959-0872-4988-9D34-8181DC48E8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9178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902B-42B7-4F80-B4F8-932F99562BB0}" type="datetimeFigureOut">
              <a:rPr lang="zh-TW" altLang="en-US" smtClean="0"/>
              <a:t>2025/5/2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0959-0872-4988-9D34-8181DC48E8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1834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902B-42B7-4F80-B4F8-932F99562BB0}" type="datetimeFigureOut">
              <a:rPr lang="zh-TW" altLang="en-US" smtClean="0"/>
              <a:t>2025/5/2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0959-0872-4988-9D34-8181DC48E8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9055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902B-42B7-4F80-B4F8-932F99562BB0}" type="datetimeFigureOut">
              <a:rPr lang="zh-TW" altLang="en-US" smtClean="0"/>
              <a:t>2025/5/2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0959-0872-4988-9D34-8181DC48E8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4063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902B-42B7-4F80-B4F8-932F99562BB0}" type="datetimeFigureOut">
              <a:rPr lang="zh-TW" altLang="en-US" smtClean="0"/>
              <a:t>2025/5/2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0959-0872-4988-9D34-8181DC48E89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50905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902B-42B7-4F80-B4F8-932F99562BB0}" type="datetimeFigureOut">
              <a:rPr lang="zh-TW" altLang="en-US" smtClean="0"/>
              <a:t>2025/5/2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0959-0872-4988-9D34-8181DC48E8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8267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902B-42B7-4F80-B4F8-932F99562BB0}" type="datetimeFigureOut">
              <a:rPr lang="zh-TW" altLang="en-US" smtClean="0"/>
              <a:t>2025/5/2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0959-0872-4988-9D34-8181DC48E8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97876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902B-42B7-4F80-B4F8-932F99562BB0}" type="datetimeFigureOut">
              <a:rPr lang="zh-TW" altLang="en-US" smtClean="0"/>
              <a:t>2025/5/2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0959-0872-4988-9D34-8181DC48E8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26895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902B-42B7-4F80-B4F8-932F99562BB0}" type="datetimeFigureOut">
              <a:rPr lang="zh-TW" altLang="en-US" smtClean="0"/>
              <a:t>2025/5/2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0959-0872-4988-9D34-8181DC48E8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00133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902B-42B7-4F80-B4F8-932F99562BB0}" type="datetimeFigureOut">
              <a:rPr lang="zh-TW" altLang="en-US" smtClean="0"/>
              <a:t>2025/5/2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0959-0872-4988-9D34-8181DC48E8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4266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9DA902B-42B7-4F80-B4F8-932F99562BB0}" type="datetimeFigureOut">
              <a:rPr lang="zh-TW" altLang="en-US" smtClean="0"/>
              <a:t>2025/5/2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5C10959-0872-4988-9D34-8181DC48E8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99880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uefi.org/specs/UEFI/2.10/14_Protocols_PCI_Bus_Support.html#id8" TargetMode="External"/><Relationship Id="rId2" Type="http://schemas.openxmlformats.org/officeDocument/2006/relationships/hyperlink" Target="https://blog.csdn.net/weixin_43921686/article/details/127375954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yiiyee.cn/blog/2019/10/02/uefi%E5%BC%80%E5%8F%91%E6%8E%A2%E7%B4%A242-protocol%E7%9A%84%E4%BD%BF%E7%94%A81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330CCC-C77D-77BE-59A9-DB6F67DF3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Inside UEFI: A Practical Guide to Protocol Development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98003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F32685-A6C6-B1CA-B2D7-319A7599E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Agenda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B61674-FFF3-EE36-F7C6-41306E75E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/>
              <a:t>Use Protocol</a:t>
            </a:r>
          </a:p>
          <a:p>
            <a:endParaRPr lang="en-US" altLang="zh-TW" sz="2800" dirty="0"/>
          </a:p>
          <a:p>
            <a:r>
              <a:rPr lang="en-US" altLang="zh-TW" sz="2800" dirty="0"/>
              <a:t>Create and Utilize the Protocol ( Driver tutorial )</a:t>
            </a:r>
          </a:p>
        </p:txBody>
      </p:sp>
    </p:spTree>
    <p:extLst>
      <p:ext uri="{BB962C8B-B14F-4D97-AF65-F5344CB8AC3E}">
        <p14:creationId xmlns:p14="http://schemas.microsoft.com/office/powerpoint/2010/main" val="4053881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47D2A-B6A2-AC4A-6BDC-2355F3311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615688-1A63-9BA8-E9F6-26BF2B0C0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Use Protocol</a:t>
            </a:r>
          </a:p>
        </p:txBody>
      </p:sp>
    </p:spTree>
    <p:extLst>
      <p:ext uri="{BB962C8B-B14F-4D97-AF65-F5344CB8AC3E}">
        <p14:creationId xmlns:p14="http://schemas.microsoft.com/office/powerpoint/2010/main" val="759524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DDCE2-3111-BE1E-B59D-3D1F0890D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B0461F-4F55-03C6-ADA3-39653256F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Use Protocol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B57DD62-D903-8314-BB2A-BDA4C035819F}"/>
              </a:ext>
            </a:extLst>
          </p:cNvPr>
          <p:cNvGraphicFramePr>
            <a:graphicFrameLocks noGrp="1"/>
          </p:cNvGraphicFramePr>
          <p:nvPr/>
        </p:nvGraphicFramePr>
        <p:xfrm>
          <a:off x="4039577" y="1909298"/>
          <a:ext cx="4112846" cy="787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6423">
                  <a:extLst>
                    <a:ext uri="{9D8B030D-6E8A-4147-A177-3AD203B41FA5}">
                      <a16:colId xmlns:a16="http://schemas.microsoft.com/office/drawing/2014/main" val="2077484323"/>
                    </a:ext>
                  </a:extLst>
                </a:gridCol>
                <a:gridCol w="2056423">
                  <a:extLst>
                    <a:ext uri="{9D8B030D-6E8A-4147-A177-3AD203B41FA5}">
                      <a16:colId xmlns:a16="http://schemas.microsoft.com/office/drawing/2014/main" val="1828861428"/>
                    </a:ext>
                  </a:extLst>
                </a:gridCol>
              </a:tblGrid>
              <a:tr h="39350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INDEX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DATA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609023"/>
                  </a:ext>
                </a:extLst>
              </a:tr>
              <a:tr h="39350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CF8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CFC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125817"/>
                  </a:ext>
                </a:extLst>
              </a:tr>
            </a:tbl>
          </a:graphicData>
        </a:graphic>
      </p:graphicFrame>
      <p:pic>
        <p:nvPicPr>
          <p:cNvPr id="7" name="圖片 6">
            <a:extLst>
              <a:ext uri="{FF2B5EF4-FFF2-40B4-BE49-F238E27FC236}">
                <a16:creationId xmlns:a16="http://schemas.microsoft.com/office/drawing/2014/main" id="{E35960B1-E8F9-69A7-A2B6-5DD7DBCB9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724" y="3749306"/>
            <a:ext cx="9543416" cy="56216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49E6999-164D-56ED-E19D-BA06C69E08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01"/>
          <a:stretch/>
        </p:blipFill>
        <p:spPr>
          <a:xfrm>
            <a:off x="1562724" y="4842172"/>
            <a:ext cx="8754089" cy="602034"/>
          </a:xfrm>
          <a:prstGeom prst="rect">
            <a:avLst/>
          </a:prstGeom>
        </p:spPr>
      </p:pic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B7393B3F-BC7F-07E0-A7D6-11003C666082}"/>
              </a:ext>
            </a:extLst>
          </p:cNvPr>
          <p:cNvCxnSpPr>
            <a:cxnSpLocks/>
          </p:cNvCxnSpPr>
          <p:nvPr/>
        </p:nvCxnSpPr>
        <p:spPr>
          <a:xfrm flipV="1">
            <a:off x="4039577" y="2696308"/>
            <a:ext cx="924310" cy="10529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1D42DF58-7E8D-6CB6-94A4-BCCFAADD0198}"/>
              </a:ext>
            </a:extLst>
          </p:cNvPr>
          <p:cNvCxnSpPr>
            <a:cxnSpLocks/>
          </p:cNvCxnSpPr>
          <p:nvPr/>
        </p:nvCxnSpPr>
        <p:spPr>
          <a:xfrm flipV="1">
            <a:off x="5529943" y="2696308"/>
            <a:ext cx="1466959" cy="21458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4636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14183-1903-037B-0192-097A80256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C4155A-89B8-6F33-52DF-A82D77C09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Use Protocol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11D007C-C661-21D7-106B-CB11D897C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TW" dirty="0">
              <a:cs typeface="Calibri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9E3CD25-D5BB-7311-85B5-1AA36CF11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9390" y="1521512"/>
            <a:ext cx="6773220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845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F9D58-8FE9-B76F-F85E-A03EFB56E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B3007E-C4EE-B510-60DC-BDA01B740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Use Protocol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60EA624-6DF8-853E-9E9F-228F8F23C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396" y="5529874"/>
            <a:ext cx="6335009" cy="51442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08874180-2823-EECD-2BBE-A1F334D29E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7812" y="1780945"/>
            <a:ext cx="4296375" cy="329611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B350F43-0FEF-1BE0-A9CC-F48FFFECD0F7}"/>
              </a:ext>
            </a:extLst>
          </p:cNvPr>
          <p:cNvSpPr/>
          <p:nvPr/>
        </p:nvSpPr>
        <p:spPr>
          <a:xfrm>
            <a:off x="4255478" y="4743151"/>
            <a:ext cx="2215661" cy="3339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98679BA-3D71-5F02-09D6-5A9A8DF1C069}"/>
              </a:ext>
            </a:extLst>
          </p:cNvPr>
          <p:cNvSpPr/>
          <p:nvPr/>
        </p:nvSpPr>
        <p:spPr>
          <a:xfrm>
            <a:off x="3173579" y="5837152"/>
            <a:ext cx="2419976" cy="2180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B636702-4B46-117E-031D-CC33AD43DF49}"/>
              </a:ext>
            </a:extLst>
          </p:cNvPr>
          <p:cNvSpPr/>
          <p:nvPr/>
        </p:nvSpPr>
        <p:spPr>
          <a:xfrm>
            <a:off x="3176119" y="5582838"/>
            <a:ext cx="2712530" cy="2289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F650B9-538C-F4A5-A780-1B066C83CE6D}"/>
              </a:ext>
            </a:extLst>
          </p:cNvPr>
          <p:cNvSpPr/>
          <p:nvPr/>
        </p:nvSpPr>
        <p:spPr>
          <a:xfrm>
            <a:off x="3590944" y="1406489"/>
            <a:ext cx="4952164" cy="3490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EFI_PCI_ROOT_BRIDGE_IO_PROTOCOL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1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FC583-68F3-5A3F-977E-5CEE37BA5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4E05B4AC-1C26-0E83-2036-22DA1A0B95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695"/>
          <a:stretch/>
        </p:blipFill>
        <p:spPr>
          <a:xfrm>
            <a:off x="-1" y="4031831"/>
            <a:ext cx="6163874" cy="1099558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7FCC66E-DDE0-C653-CD2C-9CBB76724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Use Protocol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C3226BD-41CA-0C4A-B9F0-2B8E00506D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6991" y="1388731"/>
            <a:ext cx="6335009" cy="514422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72025B1A-4ADA-4CCA-84E8-F901BFBD4A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038" t="1477" r="-3655" b="247"/>
          <a:stretch/>
        </p:blipFill>
        <p:spPr>
          <a:xfrm>
            <a:off x="6421161" y="2492794"/>
            <a:ext cx="5968566" cy="1872412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7C7B74BE-CDA9-6C3E-2981-146CAE63D4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9368"/>
          <a:stretch/>
        </p:blipFill>
        <p:spPr>
          <a:xfrm>
            <a:off x="0" y="2447925"/>
            <a:ext cx="6163874" cy="115252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BED6691-EF9F-FF04-E5FB-1F2CE39CC664}"/>
              </a:ext>
            </a:extLst>
          </p:cNvPr>
          <p:cNvSpPr/>
          <p:nvPr/>
        </p:nvSpPr>
        <p:spPr>
          <a:xfrm>
            <a:off x="7372349" y="2638424"/>
            <a:ext cx="3133725" cy="7239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BB1598E9-38B5-9D7E-C3DC-9E85208364DB}"/>
              </a:ext>
            </a:extLst>
          </p:cNvPr>
          <p:cNvCxnSpPr>
            <a:cxnSpLocks/>
          </p:cNvCxnSpPr>
          <p:nvPr/>
        </p:nvCxnSpPr>
        <p:spPr>
          <a:xfrm flipV="1">
            <a:off x="2552700" y="2924175"/>
            <a:ext cx="4819649" cy="1663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FDAA7EA4-ADA6-76AB-16A8-4250FDC39728}"/>
              </a:ext>
            </a:extLst>
          </p:cNvPr>
          <p:cNvSpPr/>
          <p:nvPr/>
        </p:nvSpPr>
        <p:spPr>
          <a:xfrm>
            <a:off x="10544175" y="2638424"/>
            <a:ext cx="1543050" cy="7239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dirty="0">
                <a:solidFill>
                  <a:srgbClr val="FF0000"/>
                </a:solidFill>
              </a:rPr>
              <a:t>Protocol </a:t>
            </a:r>
            <a:r>
              <a:rPr lang="en-US" altLang="zh-TW" sz="1400" dirty="0" err="1">
                <a:solidFill>
                  <a:srgbClr val="FF0000"/>
                </a:solidFill>
              </a:rPr>
              <a:t>Guid</a:t>
            </a:r>
            <a:r>
              <a:rPr lang="en-US" altLang="zh-TW" sz="1400" dirty="0">
                <a:solidFill>
                  <a:srgbClr val="FF0000"/>
                </a:solidFill>
              </a:rPr>
              <a:t>,</a:t>
            </a:r>
          </a:p>
          <a:p>
            <a:r>
              <a:rPr lang="en-US" altLang="zh-TW" sz="1400" dirty="0">
                <a:solidFill>
                  <a:srgbClr val="FF0000"/>
                </a:solidFill>
              </a:rPr>
              <a:t>NULL,</a:t>
            </a:r>
          </a:p>
          <a:p>
            <a:r>
              <a:rPr lang="en-US" altLang="zh-TW" sz="1400" dirty="0">
                <a:solidFill>
                  <a:srgbClr val="FF0000"/>
                </a:solidFill>
              </a:rPr>
              <a:t>Interface protocol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1566321F-4E2A-20F3-B421-91B97B06B209}"/>
              </a:ext>
            </a:extLst>
          </p:cNvPr>
          <p:cNvCxnSpPr>
            <a:cxnSpLocks/>
          </p:cNvCxnSpPr>
          <p:nvPr/>
        </p:nvCxnSpPr>
        <p:spPr>
          <a:xfrm flipV="1">
            <a:off x="6035942" y="3776099"/>
            <a:ext cx="641083" cy="5672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058EA33E-D848-03A0-9D61-6AC17C9F9921}"/>
              </a:ext>
            </a:extLst>
          </p:cNvPr>
          <p:cNvSpPr/>
          <p:nvPr/>
        </p:nvSpPr>
        <p:spPr>
          <a:xfrm>
            <a:off x="85724" y="2771774"/>
            <a:ext cx="2457451" cy="7239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C10F284-31AA-FBEB-457E-FF485A3C504F}"/>
              </a:ext>
            </a:extLst>
          </p:cNvPr>
          <p:cNvSpPr/>
          <p:nvPr/>
        </p:nvSpPr>
        <p:spPr>
          <a:xfrm>
            <a:off x="-1" y="4343305"/>
            <a:ext cx="6163874" cy="7618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253333E-D2F1-E9A9-C7DA-695B78DA6AA5}"/>
              </a:ext>
            </a:extLst>
          </p:cNvPr>
          <p:cNvSpPr/>
          <p:nvPr/>
        </p:nvSpPr>
        <p:spPr>
          <a:xfrm>
            <a:off x="0" y="2106483"/>
            <a:ext cx="1628776" cy="3414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LocateProtocol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29D88FB-D0A0-6D59-F04C-D57142B0594C}"/>
              </a:ext>
            </a:extLst>
          </p:cNvPr>
          <p:cNvSpPr/>
          <p:nvPr/>
        </p:nvSpPr>
        <p:spPr>
          <a:xfrm>
            <a:off x="0" y="3765131"/>
            <a:ext cx="1628776" cy="3414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Return value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56094F5-0240-5BE9-F5C9-F9FEC476D38B}"/>
              </a:ext>
            </a:extLst>
          </p:cNvPr>
          <p:cNvSpPr/>
          <p:nvPr/>
        </p:nvSpPr>
        <p:spPr>
          <a:xfrm>
            <a:off x="0" y="5812297"/>
            <a:ext cx="3683000" cy="7618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rgbClr val="FF0000"/>
                </a:solidFill>
              </a:rPr>
              <a:t>Note</a:t>
            </a:r>
            <a:r>
              <a:rPr lang="en-US" altLang="zh-TW" dirty="0">
                <a:solidFill>
                  <a:schemeClr val="tx1"/>
                </a:solidFill>
              </a:rPr>
              <a:t> : </a:t>
            </a:r>
            <a:r>
              <a:rPr lang="en-US" altLang="zh-TW" dirty="0" err="1">
                <a:solidFill>
                  <a:schemeClr val="tx1"/>
                </a:solidFill>
              </a:rPr>
              <a:t>LocateProtocol</a:t>
            </a:r>
            <a:r>
              <a:rPr lang="en-US" altLang="zh-TW" dirty="0">
                <a:solidFill>
                  <a:schemeClr val="tx1"/>
                </a:solidFill>
              </a:rPr>
              <a:t>() Only find First support function and return point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850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148A4-244F-3156-A3EE-0AD61752B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E1021F-07B8-5C13-3B4E-6021E0407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Use Protocol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9347CB76-2593-78BA-6A72-BD7DDBCEA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936" y="1963456"/>
            <a:ext cx="4124901" cy="1267002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75FC1465-8EE7-0E8A-C54C-C846C2F30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488" y="2466154"/>
            <a:ext cx="4881010" cy="3089425"/>
          </a:xfrm>
          <a:prstGeom prst="rect">
            <a:avLst/>
          </a:prstGeom>
        </p:spPr>
      </p:pic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0162B416-4957-ED22-B66F-73DD7CBB2C87}"/>
              </a:ext>
            </a:extLst>
          </p:cNvPr>
          <p:cNvCxnSpPr>
            <a:cxnSpLocks/>
          </p:cNvCxnSpPr>
          <p:nvPr/>
        </p:nvCxnSpPr>
        <p:spPr>
          <a:xfrm flipH="1">
            <a:off x="3231443" y="2596957"/>
            <a:ext cx="4176637" cy="15756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28B7661-5930-3D5C-8155-FD14AF14E060}"/>
              </a:ext>
            </a:extLst>
          </p:cNvPr>
          <p:cNvSpPr/>
          <p:nvPr/>
        </p:nvSpPr>
        <p:spPr>
          <a:xfrm>
            <a:off x="7468070" y="2145884"/>
            <a:ext cx="2914777" cy="8572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BD5502-CE7A-DD23-C54F-88DF845422FB}"/>
              </a:ext>
            </a:extLst>
          </p:cNvPr>
          <p:cNvSpPr/>
          <p:nvPr/>
        </p:nvSpPr>
        <p:spPr>
          <a:xfrm>
            <a:off x="0" y="1991193"/>
            <a:ext cx="2950598" cy="323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Pci.Read</a:t>
            </a:r>
            <a:r>
              <a:rPr lang="en-US" altLang="zh-TW" dirty="0">
                <a:solidFill>
                  <a:schemeClr val="tx1"/>
                </a:solidFill>
              </a:rPr>
              <a:t> / </a:t>
            </a:r>
            <a:r>
              <a:rPr lang="en-US" altLang="zh-TW" dirty="0" err="1">
                <a:solidFill>
                  <a:schemeClr val="tx1"/>
                </a:solidFill>
              </a:rPr>
              <a:t>Pci.Write</a:t>
            </a:r>
            <a:r>
              <a:rPr lang="en-US" altLang="zh-TW" dirty="0">
                <a:solidFill>
                  <a:schemeClr val="tx1"/>
                </a:solidFill>
              </a:rPr>
              <a:t>:</a:t>
            </a:r>
            <a:endParaRPr lang="zh-TW" altLang="en-US" dirty="0">
              <a:solidFill>
                <a:schemeClr val="tx1"/>
              </a:solidFill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30D73331-FD2F-CD0C-FC37-DB74354E75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7936" y="3429000"/>
            <a:ext cx="4286848" cy="1457528"/>
          </a:xfrm>
          <a:prstGeom prst="rect">
            <a:avLst/>
          </a:prstGeom>
        </p:spPr>
      </p:pic>
      <p:grpSp>
        <p:nvGrpSpPr>
          <p:cNvPr id="38" name="群組 37">
            <a:extLst>
              <a:ext uri="{FF2B5EF4-FFF2-40B4-BE49-F238E27FC236}">
                <a16:creationId xmlns:a16="http://schemas.microsoft.com/office/drawing/2014/main" id="{70266BB3-3BA8-B0C4-CF5A-3381464F8D3C}"/>
              </a:ext>
            </a:extLst>
          </p:cNvPr>
          <p:cNvGrpSpPr/>
          <p:nvPr/>
        </p:nvGrpSpPr>
        <p:grpSpPr>
          <a:xfrm>
            <a:off x="5827399" y="5182671"/>
            <a:ext cx="5989427" cy="1675329"/>
            <a:chOff x="128587" y="4983789"/>
            <a:chExt cx="5989427" cy="1675329"/>
          </a:xfrm>
        </p:grpSpPr>
        <p:pic>
          <p:nvPicPr>
            <p:cNvPr id="19" name="圖片 18">
              <a:extLst>
                <a:ext uri="{FF2B5EF4-FFF2-40B4-BE49-F238E27FC236}">
                  <a16:creationId xmlns:a16="http://schemas.microsoft.com/office/drawing/2014/main" id="{08AA7456-F9D2-30E7-C818-610DBAC3E9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5280" y="5392115"/>
              <a:ext cx="5782734" cy="1267003"/>
            </a:xfrm>
            <a:prstGeom prst="rect">
              <a:avLst/>
            </a:prstGeom>
          </p:spPr>
        </p:pic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A3BC26D5-1E65-4560-F8E2-0562E0CF70AF}"/>
                </a:ext>
              </a:extLst>
            </p:cNvPr>
            <p:cNvSpPr/>
            <p:nvPr/>
          </p:nvSpPr>
          <p:spPr>
            <a:xfrm>
              <a:off x="128587" y="4983789"/>
              <a:ext cx="981075" cy="3414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Status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1DB860FD-204B-D20B-A99D-725318816733}"/>
              </a:ext>
            </a:extLst>
          </p:cNvPr>
          <p:cNvCxnSpPr>
            <a:cxnSpLocks/>
          </p:cNvCxnSpPr>
          <p:nvPr/>
        </p:nvCxnSpPr>
        <p:spPr>
          <a:xfrm>
            <a:off x="8303895" y="4962341"/>
            <a:ext cx="0" cy="5617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7466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23CE1-9B8D-4F45-B460-1D4D87E25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F155F3-A513-7638-EF1B-DE568E4E9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Create and Utilize the Protocol</a:t>
            </a:r>
          </a:p>
        </p:txBody>
      </p:sp>
    </p:spTree>
    <p:extLst>
      <p:ext uri="{BB962C8B-B14F-4D97-AF65-F5344CB8AC3E}">
        <p14:creationId xmlns:p14="http://schemas.microsoft.com/office/powerpoint/2010/main" val="872154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4F76F-056E-9CE0-BF05-BBEEC61AA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8236E9-918F-CA54-9B35-EC2BE0D56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Create and Utilize the Protocol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3628B7E-5B57-060E-DF27-2D00C6F6EDF4}"/>
              </a:ext>
            </a:extLst>
          </p:cNvPr>
          <p:cNvSpPr/>
          <p:nvPr/>
        </p:nvSpPr>
        <p:spPr>
          <a:xfrm>
            <a:off x="1386702" y="1030466"/>
            <a:ext cx="2009776" cy="3414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TestProtocol.h</a:t>
            </a:r>
            <a:endParaRPr lang="zh-TW" altLang="en-US" dirty="0">
              <a:solidFill>
                <a:schemeClr val="tx1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44DBF33-0AFB-375A-CAB6-C56BA77EE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6479" y="1262186"/>
            <a:ext cx="5445341" cy="501129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F04A0D3-27D3-8F91-C527-26AED1E14E86}"/>
              </a:ext>
            </a:extLst>
          </p:cNvPr>
          <p:cNvSpPr/>
          <p:nvPr/>
        </p:nvSpPr>
        <p:spPr>
          <a:xfrm>
            <a:off x="3785788" y="6443735"/>
            <a:ext cx="4620424" cy="3414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Path: \</a:t>
            </a:r>
            <a:r>
              <a:rPr lang="en-US" altLang="zh-TW" dirty="0" err="1">
                <a:solidFill>
                  <a:schemeClr val="tx1"/>
                </a:solidFill>
              </a:rPr>
              <a:t>MdeModulePkg</a:t>
            </a:r>
            <a:r>
              <a:rPr lang="en-US" altLang="zh-TW" dirty="0">
                <a:solidFill>
                  <a:schemeClr val="tx1"/>
                </a:solidFill>
              </a:rPr>
              <a:t>\Include\Protocol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7726C5D-FD6C-17C3-3A16-438A53D63111}"/>
              </a:ext>
            </a:extLst>
          </p:cNvPr>
          <p:cNvSpPr/>
          <p:nvPr/>
        </p:nvSpPr>
        <p:spPr>
          <a:xfrm>
            <a:off x="3396478" y="2940050"/>
            <a:ext cx="2832871" cy="11557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19AC57-2835-417A-EE80-5DC31A6E6959}"/>
              </a:ext>
            </a:extLst>
          </p:cNvPr>
          <p:cNvSpPr/>
          <p:nvPr/>
        </p:nvSpPr>
        <p:spPr>
          <a:xfrm>
            <a:off x="3396477" y="4191000"/>
            <a:ext cx="2832871" cy="700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85123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A5FF0-0097-F4CB-CED5-DD8CB9C54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D2558F-AFC6-FD3F-7AB2-C3D39BDE4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Create and Utilize the Protocol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5A80594-12AB-5118-A1C8-CE40DF1F9EB9}"/>
              </a:ext>
            </a:extLst>
          </p:cNvPr>
          <p:cNvSpPr/>
          <p:nvPr/>
        </p:nvSpPr>
        <p:spPr>
          <a:xfrm>
            <a:off x="1477505" y="1659708"/>
            <a:ext cx="2009776" cy="3414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TestProtocol.h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950F219-94A7-C559-4AD2-80F52F7226F1}"/>
              </a:ext>
            </a:extLst>
          </p:cNvPr>
          <p:cNvSpPr/>
          <p:nvPr/>
        </p:nvSpPr>
        <p:spPr>
          <a:xfrm>
            <a:off x="3785788" y="5187400"/>
            <a:ext cx="4620424" cy="3414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Path: \</a:t>
            </a:r>
            <a:r>
              <a:rPr lang="en-US" altLang="zh-TW" dirty="0" err="1">
                <a:solidFill>
                  <a:schemeClr val="tx1"/>
                </a:solidFill>
              </a:rPr>
              <a:t>MdeModulePkg</a:t>
            </a:r>
            <a:r>
              <a:rPr lang="en-US" altLang="zh-TW" dirty="0">
                <a:solidFill>
                  <a:schemeClr val="tx1"/>
                </a:solidFill>
              </a:rPr>
              <a:t>\Include\Protocol</a:t>
            </a:r>
            <a:endParaRPr lang="zh-TW" altLang="en-US" dirty="0">
              <a:solidFill>
                <a:schemeClr val="tx1"/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DD59CAF-38ED-2ABC-5118-B857FDCB8B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963"/>
          <a:stretch/>
        </p:blipFill>
        <p:spPr>
          <a:xfrm>
            <a:off x="2496681" y="2553268"/>
            <a:ext cx="8165512" cy="225273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69E43CB-F624-733C-B004-FA685CF45A98}"/>
              </a:ext>
            </a:extLst>
          </p:cNvPr>
          <p:cNvSpPr/>
          <p:nvPr/>
        </p:nvSpPr>
        <p:spPr>
          <a:xfrm>
            <a:off x="2496681" y="3440911"/>
            <a:ext cx="7971294" cy="171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19015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A00D1-5EAC-E189-2C72-E4D60BE41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D7A156-9244-6711-18F2-E610AD403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Create and Utilize the Protocol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E136F9-E6CB-8981-AB7D-1302BEC9F85F}"/>
              </a:ext>
            </a:extLst>
          </p:cNvPr>
          <p:cNvSpPr/>
          <p:nvPr/>
        </p:nvSpPr>
        <p:spPr>
          <a:xfrm>
            <a:off x="1094061" y="1568772"/>
            <a:ext cx="2511288" cy="4376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MdeModulePkg.dec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F67DDAB-240E-B52B-BFD7-69372153DDCF}"/>
              </a:ext>
            </a:extLst>
          </p:cNvPr>
          <p:cNvSpPr/>
          <p:nvPr/>
        </p:nvSpPr>
        <p:spPr>
          <a:xfrm>
            <a:off x="3712580" y="4751414"/>
            <a:ext cx="4766840" cy="3414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Path: \MdeModulePkg\MdeModulePkg.dec</a:t>
            </a:r>
            <a:endParaRPr lang="zh-TW" altLang="en-US" dirty="0">
              <a:solidFill>
                <a:schemeClr val="tx1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5F7BD4C-A911-E930-2435-1AA7597CD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810" y="3740954"/>
            <a:ext cx="7916380" cy="57158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C42D5B1A-3B83-F40A-5E66-3C8ED11A64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7810" y="2087856"/>
            <a:ext cx="7478169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342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E0707-1ED7-DB0B-CA92-E798106D5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7DD145-AC6F-EB0E-5163-55670A7A2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Create and Utilize the Protocol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1174DEE-4EFE-C304-5CAF-5569BCAA5C7A}"/>
              </a:ext>
            </a:extLst>
          </p:cNvPr>
          <p:cNvSpPr txBox="1"/>
          <p:nvPr/>
        </p:nvSpPr>
        <p:spPr>
          <a:xfrm>
            <a:off x="1619794" y="1201187"/>
            <a:ext cx="2396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TestProtocolInstall.c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E11E0C65-12A9-150F-4598-5D0363534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2242" y="1082233"/>
            <a:ext cx="4367516" cy="555499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AA3D9FE-7F88-000B-426F-79E3FD665A72}"/>
              </a:ext>
            </a:extLst>
          </p:cNvPr>
          <p:cNvSpPr/>
          <p:nvPr/>
        </p:nvSpPr>
        <p:spPr>
          <a:xfrm>
            <a:off x="3912242" y="2273300"/>
            <a:ext cx="2596508" cy="11557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14580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FB161-5B84-F979-BCB2-6B582D3DE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FBD217-48A4-BB63-7EFA-DD329F140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Create and Utilize the Protocol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6F729E7-95B8-F8B6-B20A-AF96ED260B84}"/>
              </a:ext>
            </a:extLst>
          </p:cNvPr>
          <p:cNvSpPr txBox="1"/>
          <p:nvPr/>
        </p:nvSpPr>
        <p:spPr>
          <a:xfrm>
            <a:off x="1620381" y="1201187"/>
            <a:ext cx="2291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TestProtocolInstall.c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79B33C86-8352-76FB-412F-0DE0CEDE7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2242" y="1082233"/>
            <a:ext cx="4367516" cy="555499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96230D2-0B94-279A-EAB3-01A133AAC2F3}"/>
              </a:ext>
            </a:extLst>
          </p:cNvPr>
          <p:cNvSpPr/>
          <p:nvPr/>
        </p:nvSpPr>
        <p:spPr>
          <a:xfrm>
            <a:off x="3912243" y="4143375"/>
            <a:ext cx="4367515" cy="2381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01976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DC10F-159C-0F74-B17F-75CFA2244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648384-9308-3783-FD19-675944970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Create and Utilize the Protocol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FE377545-C934-2534-46DE-F7E878186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2242" y="1082233"/>
            <a:ext cx="4367516" cy="555499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7AB8BC3-5EE5-1453-4B45-724596A02AFA}"/>
              </a:ext>
            </a:extLst>
          </p:cNvPr>
          <p:cNvSpPr/>
          <p:nvPr/>
        </p:nvSpPr>
        <p:spPr>
          <a:xfrm>
            <a:off x="3912241" y="4395787"/>
            <a:ext cx="4367515" cy="5621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12C0286-FB97-1C5F-8526-6E22DDBF04B3}"/>
              </a:ext>
            </a:extLst>
          </p:cNvPr>
          <p:cNvSpPr txBox="1"/>
          <p:nvPr/>
        </p:nvSpPr>
        <p:spPr>
          <a:xfrm>
            <a:off x="1620381" y="1201187"/>
            <a:ext cx="2291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TestProtocolInstall.c</a:t>
            </a:r>
          </a:p>
        </p:txBody>
      </p:sp>
    </p:spTree>
    <p:extLst>
      <p:ext uri="{BB962C8B-B14F-4D97-AF65-F5344CB8AC3E}">
        <p14:creationId xmlns:p14="http://schemas.microsoft.com/office/powerpoint/2010/main" val="3816358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09A68-BCFC-D8D3-B846-3AD326C31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E85016-C07D-3A06-0F19-88170580A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Create and Utilize the Protocol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19077196-8EE0-DF6A-66B9-996DF279B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2242" y="1082233"/>
            <a:ext cx="4367516" cy="555499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774F0F7-0A34-23E7-7060-DDAFAB3BBA9F}"/>
              </a:ext>
            </a:extLst>
          </p:cNvPr>
          <p:cNvSpPr/>
          <p:nvPr/>
        </p:nvSpPr>
        <p:spPr>
          <a:xfrm>
            <a:off x="3912243" y="4991099"/>
            <a:ext cx="4367515" cy="3492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59020BD5-EF4C-3A92-94D2-BC7DA159DC2E}"/>
              </a:ext>
            </a:extLst>
          </p:cNvPr>
          <p:cNvCxnSpPr>
            <a:cxnSpLocks/>
          </p:cNvCxnSpPr>
          <p:nvPr/>
        </p:nvCxnSpPr>
        <p:spPr>
          <a:xfrm>
            <a:off x="5041900" y="3429000"/>
            <a:ext cx="431800" cy="179705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C37D4443-20F0-6126-1B59-FF87D152C4E2}"/>
              </a:ext>
            </a:extLst>
          </p:cNvPr>
          <p:cNvSpPr/>
          <p:nvPr/>
        </p:nvSpPr>
        <p:spPr>
          <a:xfrm>
            <a:off x="3905892" y="2247900"/>
            <a:ext cx="2596508" cy="11557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9F1B141-4B3A-E5A8-BE8A-399BFD9E2BF3}"/>
              </a:ext>
            </a:extLst>
          </p:cNvPr>
          <p:cNvSpPr txBox="1"/>
          <p:nvPr/>
        </p:nvSpPr>
        <p:spPr>
          <a:xfrm>
            <a:off x="1620381" y="1188124"/>
            <a:ext cx="2291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TestProtocolInstall.c</a:t>
            </a:r>
          </a:p>
        </p:txBody>
      </p:sp>
    </p:spTree>
    <p:extLst>
      <p:ext uri="{BB962C8B-B14F-4D97-AF65-F5344CB8AC3E}">
        <p14:creationId xmlns:p14="http://schemas.microsoft.com/office/powerpoint/2010/main" val="3351514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3ECF3-2FE1-8BC7-43A1-987DCCF50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1B2488-C81E-4761-6B8F-E3525E549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Create and Utilize the Protocol</a:t>
            </a:r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E20A4D76-3CF3-DE8D-F23B-23D237480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1F7D5A-EA43-1C22-34D1-E14EDDE89BF4}"/>
              </a:ext>
            </a:extLst>
          </p:cNvPr>
          <p:cNvSpPr/>
          <p:nvPr/>
        </p:nvSpPr>
        <p:spPr>
          <a:xfrm>
            <a:off x="1110546" y="1242004"/>
            <a:ext cx="2527661" cy="3198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TestProtocolInstall.inf</a:t>
            </a:r>
            <a:endParaRPr lang="zh-TW" altLang="en-US" dirty="0">
              <a:solidFill>
                <a:schemeClr val="tx1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3DB3CDB-3D5E-0914-43F3-9A4E60273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207" y="1561840"/>
            <a:ext cx="4915586" cy="44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864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437F4-7BBB-3B31-DAB8-95DB7D2CB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52DEBC-865E-0252-0528-CE5746948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Create and Utilize the Protocol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BD02371-5B62-E803-95F8-F32AE7EA99F4}"/>
              </a:ext>
            </a:extLst>
          </p:cNvPr>
          <p:cNvSpPr txBox="1"/>
          <p:nvPr/>
        </p:nvSpPr>
        <p:spPr>
          <a:xfrm>
            <a:off x="1446347" y="1201187"/>
            <a:ext cx="2103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 err="1"/>
              <a:t>TestProtocolUse.c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45E0D91-0A9B-7176-DD3A-15AE2831E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045" y="1046527"/>
            <a:ext cx="5091910" cy="569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532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C6262-66AD-66B4-3667-C697B6607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196AA7-7454-7B8D-E88F-6A71D119E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Create and Utilize the Protocol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32B28B3-C059-8152-E1D2-FC09A6F56C1F}"/>
              </a:ext>
            </a:extLst>
          </p:cNvPr>
          <p:cNvSpPr txBox="1"/>
          <p:nvPr/>
        </p:nvSpPr>
        <p:spPr>
          <a:xfrm>
            <a:off x="1494681" y="1195139"/>
            <a:ext cx="2103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 err="1"/>
              <a:t>TestProtocolUse.c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3DD7FDE-8187-868A-580C-75591F126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045" y="1046527"/>
            <a:ext cx="5091910" cy="569260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361523D-F83A-93B9-167E-B62539AF3B1D}"/>
              </a:ext>
            </a:extLst>
          </p:cNvPr>
          <p:cNvSpPr/>
          <p:nvPr/>
        </p:nvSpPr>
        <p:spPr>
          <a:xfrm>
            <a:off x="3598379" y="3429000"/>
            <a:ext cx="4995241" cy="10559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B761D2F-9181-386F-42C4-CA9D7B720CE3}"/>
              </a:ext>
            </a:extLst>
          </p:cNvPr>
          <p:cNvSpPr/>
          <p:nvPr/>
        </p:nvSpPr>
        <p:spPr>
          <a:xfrm>
            <a:off x="1619794" y="3786236"/>
            <a:ext cx="1978585" cy="2371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err="1">
                <a:solidFill>
                  <a:schemeClr val="tx1"/>
                </a:solidFill>
              </a:rPr>
              <a:t>LocateProtocol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27D306-124A-8BBA-E7A5-B7DB98D1D648}"/>
              </a:ext>
            </a:extLst>
          </p:cNvPr>
          <p:cNvSpPr/>
          <p:nvPr/>
        </p:nvSpPr>
        <p:spPr>
          <a:xfrm>
            <a:off x="3598379" y="4734725"/>
            <a:ext cx="4995241" cy="10559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21771F-0B13-C08C-182F-35CFC780DFF0}"/>
              </a:ext>
            </a:extLst>
          </p:cNvPr>
          <p:cNvSpPr/>
          <p:nvPr/>
        </p:nvSpPr>
        <p:spPr>
          <a:xfrm>
            <a:off x="1619794" y="5091961"/>
            <a:ext cx="1978585" cy="2371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err="1">
                <a:solidFill>
                  <a:schemeClr val="tx1"/>
                </a:solidFill>
              </a:rPr>
              <a:t>HelloWorld.Read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9230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DF1C5A-ACD9-2F44-8D91-D3ED3F64C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Create and Utilize the Protocol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5C97113-7C7E-580D-0701-E4464A218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259" y="1661646"/>
            <a:ext cx="5239481" cy="455358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90B8947A-9390-41B9-0E83-A2EFAD7A3BB2}"/>
              </a:ext>
            </a:extLst>
          </p:cNvPr>
          <p:cNvSpPr/>
          <p:nvPr/>
        </p:nvSpPr>
        <p:spPr>
          <a:xfrm>
            <a:off x="1388761" y="1320204"/>
            <a:ext cx="2087498" cy="3414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sto MT (本文)"/>
              </a:rPr>
              <a:t>TestProtocolUse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體 Light"/>
                <a:cs typeface="+mn-cs"/>
              </a:rPr>
              <a:t>.inf</a:t>
            </a:r>
          </a:p>
        </p:txBody>
      </p:sp>
    </p:spTree>
    <p:extLst>
      <p:ext uri="{BB962C8B-B14F-4D97-AF65-F5344CB8AC3E}">
        <p14:creationId xmlns:p14="http://schemas.microsoft.com/office/powerpoint/2010/main" val="3429091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F3C91-3F12-76AC-D2BF-11323534A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B0229F-B491-E00A-EDBC-B0108FEF6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Create and Utilize the Protocol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C854EB7-2695-4DB8-F945-5E4A6E13B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998" y="2693731"/>
            <a:ext cx="5848003" cy="231118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89A79957-1C1B-8BCC-8FF6-3BF562F36F47}"/>
              </a:ext>
            </a:extLst>
          </p:cNvPr>
          <p:cNvSpPr/>
          <p:nvPr/>
        </p:nvSpPr>
        <p:spPr>
          <a:xfrm>
            <a:off x="1959429" y="2156266"/>
            <a:ext cx="2256318" cy="3873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MdeModulePkg.dsc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D1FBBCE-38F9-5A11-AB10-EA08F80A23EF}"/>
              </a:ext>
            </a:extLst>
          </p:cNvPr>
          <p:cNvSpPr/>
          <p:nvPr/>
        </p:nvSpPr>
        <p:spPr>
          <a:xfrm>
            <a:off x="3171998" y="4314380"/>
            <a:ext cx="5192486" cy="4150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19237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91C5F-0B72-8088-67CE-3AC178085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6CF682-A633-6D06-F4C4-7FEF5FC83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Create and Utilize the Protocol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9CD1859-F216-627F-C443-A251D7590B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8504" y="1676946"/>
            <a:ext cx="6444343" cy="483325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75FA83D-BF71-8234-461F-E6D3966C97E0}"/>
              </a:ext>
            </a:extLst>
          </p:cNvPr>
          <p:cNvSpPr/>
          <p:nvPr/>
        </p:nvSpPr>
        <p:spPr>
          <a:xfrm>
            <a:off x="2868504" y="4548052"/>
            <a:ext cx="6444343" cy="4150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28301F1-460D-2D84-44C4-B4DA3192FE76}"/>
              </a:ext>
            </a:extLst>
          </p:cNvPr>
          <p:cNvSpPr/>
          <p:nvPr/>
        </p:nvSpPr>
        <p:spPr>
          <a:xfrm>
            <a:off x="2868504" y="5114057"/>
            <a:ext cx="6444343" cy="4150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87BE97A-0275-BB9B-B923-5A4347043008}"/>
              </a:ext>
            </a:extLst>
          </p:cNvPr>
          <p:cNvSpPr/>
          <p:nvPr/>
        </p:nvSpPr>
        <p:spPr>
          <a:xfrm>
            <a:off x="2857618" y="5538600"/>
            <a:ext cx="6444343" cy="5621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A45EAC-5824-76B9-9342-C6AB72B370E3}"/>
              </a:ext>
            </a:extLst>
          </p:cNvPr>
          <p:cNvSpPr/>
          <p:nvPr/>
        </p:nvSpPr>
        <p:spPr>
          <a:xfrm>
            <a:off x="1536340" y="1179561"/>
            <a:ext cx="2087498" cy="3414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Result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3250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2EBD360D-1F4B-778C-0279-B2570FDBA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Reference</a:t>
            </a:r>
            <a:endParaRPr lang="zh-TW" altLang="en-US" dirty="0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7AE5578D-4688-EAB9-C1F4-BB0C09B73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3857"/>
            <a:ext cx="10515600" cy="53907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Driver :</a:t>
            </a:r>
          </a:p>
          <a:p>
            <a:pPr marL="0" indent="0">
              <a:buNone/>
            </a:pPr>
            <a:r>
              <a:rPr lang="en-US" altLang="zh-TW" dirty="0">
                <a:hlinkClick r:id="rId2"/>
              </a:rPr>
              <a:t>UEFI——Protocol</a:t>
            </a:r>
            <a:r>
              <a:rPr lang="zh-TW" altLang="en-US" dirty="0">
                <a:hlinkClick r:id="rId2"/>
              </a:rPr>
              <a:t>应用</a:t>
            </a:r>
            <a:r>
              <a:rPr lang="en-US" altLang="zh-TW" dirty="0">
                <a:hlinkClick r:id="rId2"/>
              </a:rPr>
              <a:t>(</a:t>
            </a:r>
            <a:r>
              <a:rPr lang="zh-TW" altLang="en-US" dirty="0">
                <a:hlinkClick r:id="rId2"/>
              </a:rPr>
              <a:t>简单的</a:t>
            </a:r>
            <a:r>
              <a:rPr lang="en-US" altLang="zh-TW" dirty="0">
                <a:hlinkClick r:id="rId2"/>
              </a:rPr>
              <a:t>Driver)_</a:t>
            </a:r>
            <a:r>
              <a:rPr lang="en-US" altLang="zh-TW" dirty="0" err="1">
                <a:hlinkClick r:id="rId2"/>
              </a:rPr>
              <a:t>uefi</a:t>
            </a:r>
            <a:r>
              <a:rPr lang="en-US" altLang="zh-TW" dirty="0">
                <a:hlinkClick r:id="rId2"/>
              </a:rPr>
              <a:t> protocol-CSDN</a:t>
            </a:r>
            <a:r>
              <a:rPr lang="zh-TW" altLang="en-US" dirty="0">
                <a:hlinkClick r:id="rId2"/>
              </a:rPr>
              <a:t>博客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UEFI-PCI : </a:t>
            </a:r>
          </a:p>
          <a:p>
            <a:pPr marL="0" indent="0">
              <a:buNone/>
            </a:pPr>
            <a:r>
              <a:rPr lang="en-US" altLang="zh-TW" dirty="0">
                <a:hlinkClick r:id="rId3"/>
              </a:rPr>
              <a:t>https://uefi.org/specs/UEFI/2.10/14_Protocols_PCI_Bus_Support.html#id8</a:t>
            </a:r>
            <a:r>
              <a:rPr lang="en-US" altLang="zh-TW" dirty="0"/>
              <a:t> </a:t>
            </a:r>
          </a:p>
          <a:p>
            <a:endParaRPr lang="en-US" altLang="zh-TW" dirty="0"/>
          </a:p>
          <a:p>
            <a:r>
              <a:rPr lang="en-US" altLang="zh-TW" dirty="0"/>
              <a:t>UEFI protocol use </a:t>
            </a:r>
          </a:p>
          <a:p>
            <a:pPr marL="0" indent="0">
              <a:buNone/>
            </a:pPr>
            <a:r>
              <a:rPr lang="en-US" altLang="zh-TW" dirty="0">
                <a:hlinkClick r:id="rId4"/>
              </a:rPr>
              <a:t>http://yiiyee.cn/blog/2019/10/02/uefi%E5%BC%80%E5%8F%91%E6%8E%A2%E7%B4%A242-protocol%E7%9A%84%E4%BD%BF%E7%94%A81/</a:t>
            </a:r>
            <a:r>
              <a:rPr lang="en-US" altLang="zh-TW" dirty="0"/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石板">
  <a:themeElements>
    <a:clrScheme name="石板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石板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石板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TM04033929[[fn=石板]]</Template>
  <TotalTime>118</TotalTime>
  <Words>955</Words>
  <Application>Microsoft Office PowerPoint</Application>
  <PresentationFormat>寬螢幕</PresentationFormat>
  <Paragraphs>181</Paragraphs>
  <Slides>23</Slides>
  <Notes>20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30" baseType="lpstr">
      <vt:lpstr>Calisto MT (本文)</vt:lpstr>
      <vt:lpstr>思源黑體 Light</vt:lpstr>
      <vt:lpstr>Aptos</vt:lpstr>
      <vt:lpstr>Calibri</vt:lpstr>
      <vt:lpstr>Calisto MT</vt:lpstr>
      <vt:lpstr>Wingdings 2</vt:lpstr>
      <vt:lpstr>石板</vt:lpstr>
      <vt:lpstr>Inside UEFI: A Practical Guide to Protocol Development</vt:lpstr>
      <vt:lpstr>Agenda</vt:lpstr>
      <vt:lpstr>Use Protocol</vt:lpstr>
      <vt:lpstr>Use Protocol</vt:lpstr>
      <vt:lpstr>Use Protocol</vt:lpstr>
      <vt:lpstr>Use Protocol</vt:lpstr>
      <vt:lpstr>Use Protocol</vt:lpstr>
      <vt:lpstr>Use Protocol</vt:lpstr>
      <vt:lpstr>Create and Utilize the Protocol</vt:lpstr>
      <vt:lpstr>Create and Utilize the Protocol</vt:lpstr>
      <vt:lpstr>Create and Utilize the Protocol</vt:lpstr>
      <vt:lpstr>Create and Utilize the Protocol</vt:lpstr>
      <vt:lpstr>Create and Utilize the Protocol</vt:lpstr>
      <vt:lpstr>Create and Utilize the Protocol</vt:lpstr>
      <vt:lpstr>Create and Utilize the Protocol</vt:lpstr>
      <vt:lpstr>Create and Utilize the Protocol</vt:lpstr>
      <vt:lpstr>Create and Utilize the Protocol</vt:lpstr>
      <vt:lpstr>Create and Utilize the Protocol</vt:lpstr>
      <vt:lpstr>Create and Utilize the Protocol</vt:lpstr>
      <vt:lpstr>Create and Utilize the Protocol</vt:lpstr>
      <vt:lpstr>Create and Utilize the Protocol</vt:lpstr>
      <vt:lpstr>Create and Utilize the Protocol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佳宏 盧</dc:creator>
  <cp:lastModifiedBy>佳宏 盧</cp:lastModifiedBy>
  <cp:revision>40</cp:revision>
  <dcterms:created xsi:type="dcterms:W3CDTF">2025-05-02T12:46:48Z</dcterms:created>
  <dcterms:modified xsi:type="dcterms:W3CDTF">2025-05-02T14:45:35Z</dcterms:modified>
</cp:coreProperties>
</file>